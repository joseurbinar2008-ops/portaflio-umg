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86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4" Type="http://schemas.openxmlformats.org/officeDocument/2006/relationships/image" Target="../media/image6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22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6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5.pn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7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6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26" Type="http://schemas.openxmlformats.org/officeDocument/2006/relationships/image" Target="../media/image125.png"/><Relationship Id="rId3" Type="http://schemas.openxmlformats.org/officeDocument/2006/relationships/image" Target="../media/image22.png"/><Relationship Id="rId21" Type="http://schemas.openxmlformats.org/officeDocument/2006/relationships/image" Target="../media/image120.png"/><Relationship Id="rId34" Type="http://schemas.openxmlformats.org/officeDocument/2006/relationships/image" Target="../media/image133.png"/><Relationship Id="rId7" Type="http://schemas.openxmlformats.org/officeDocument/2006/relationships/image" Target="../media/image107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5" Type="http://schemas.openxmlformats.org/officeDocument/2006/relationships/image" Target="../media/image124.png"/><Relationship Id="rId33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0.png"/><Relationship Id="rId24" Type="http://schemas.openxmlformats.org/officeDocument/2006/relationships/image" Target="../media/image123.png"/><Relationship Id="rId32" Type="http://schemas.openxmlformats.org/officeDocument/2006/relationships/image" Target="../media/image131.png"/><Relationship Id="rId5" Type="http://schemas.openxmlformats.org/officeDocument/2006/relationships/image" Target="../media/image105.png"/><Relationship Id="rId15" Type="http://schemas.openxmlformats.org/officeDocument/2006/relationships/image" Target="../media/image114.png"/><Relationship Id="rId23" Type="http://schemas.openxmlformats.org/officeDocument/2006/relationships/image" Target="../media/image122.png"/><Relationship Id="rId28" Type="http://schemas.openxmlformats.org/officeDocument/2006/relationships/image" Target="../media/image127.png"/><Relationship Id="rId36" Type="http://schemas.openxmlformats.org/officeDocument/2006/relationships/image" Target="../media/image135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31" Type="http://schemas.openxmlformats.org/officeDocument/2006/relationships/image" Target="../media/image130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0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2.png"/><Relationship Id="rId3" Type="http://schemas.openxmlformats.org/officeDocument/2006/relationships/image" Target="../media/image22.png"/><Relationship Id="rId7" Type="http://schemas.openxmlformats.org/officeDocument/2006/relationships/image" Target="../media/image137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8.png"/><Relationship Id="rId5" Type="http://schemas.openxmlformats.org/officeDocument/2006/relationships/image" Target="../media/image136.png"/><Relationship Id="rId15" Type="http://schemas.openxmlformats.org/officeDocument/2006/relationships/image" Target="../media/image144.png"/><Relationship Id="rId10" Type="http://schemas.openxmlformats.org/officeDocument/2006/relationships/image" Target="../media/image140.png"/><Relationship Id="rId4" Type="http://schemas.openxmlformats.org/officeDocument/2006/relationships/image" Target="../media/image6.png"/><Relationship Id="rId9" Type="http://schemas.openxmlformats.org/officeDocument/2006/relationships/image" Target="../media/image139.png"/><Relationship Id="rId14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2.png"/><Relationship Id="rId18" Type="http://schemas.openxmlformats.org/officeDocument/2006/relationships/image" Target="../media/image156.png"/><Relationship Id="rId26" Type="http://schemas.openxmlformats.org/officeDocument/2006/relationships/image" Target="../media/image163.png"/><Relationship Id="rId3" Type="http://schemas.openxmlformats.org/officeDocument/2006/relationships/image" Target="../media/image22.png"/><Relationship Id="rId21" Type="http://schemas.openxmlformats.org/officeDocument/2006/relationships/image" Target="../media/image159.png"/><Relationship Id="rId7" Type="http://schemas.openxmlformats.org/officeDocument/2006/relationships/image" Target="../media/image147.png"/><Relationship Id="rId12" Type="http://schemas.openxmlformats.org/officeDocument/2006/relationships/image" Target="../media/image151.png"/><Relationship Id="rId17" Type="http://schemas.openxmlformats.org/officeDocument/2006/relationships/image" Target="../media/image94.png"/><Relationship Id="rId25" Type="http://schemas.openxmlformats.org/officeDocument/2006/relationships/image" Target="../media/image16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5.png"/><Relationship Id="rId20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0.png"/><Relationship Id="rId24" Type="http://schemas.openxmlformats.org/officeDocument/2006/relationships/image" Target="../media/image161.png"/><Relationship Id="rId5" Type="http://schemas.openxmlformats.org/officeDocument/2006/relationships/image" Target="../media/image145.png"/><Relationship Id="rId15" Type="http://schemas.openxmlformats.org/officeDocument/2006/relationships/image" Target="../media/image154.png"/><Relationship Id="rId23" Type="http://schemas.openxmlformats.org/officeDocument/2006/relationships/image" Target="../media/image91.png"/><Relationship Id="rId10" Type="http://schemas.openxmlformats.org/officeDocument/2006/relationships/image" Target="../media/image149.png"/><Relationship Id="rId19" Type="http://schemas.openxmlformats.org/officeDocument/2006/relationships/image" Target="../media/image157.png"/><Relationship Id="rId4" Type="http://schemas.openxmlformats.org/officeDocument/2006/relationships/image" Target="../media/image6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6858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27660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04639" y="0"/>
            <a:ext cx="1413908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54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MÓDULO 1. CONCEPTO BÁSICO DE DERECHO INFORMÁTICO</a:t>
            </a:r>
            <a:endParaRPr lang="en-US" sz="2700" dirty="0"/>
          </a:p>
        </p:txBody>
      </p:sp>
      <p:sp>
        <p:nvSpPr>
          <p:cNvPr id="8" name="Text 1"/>
          <p:cNvSpPr/>
          <p:nvPr/>
        </p:nvSpPr>
        <p:spPr>
          <a:xfrm>
            <a:off x="609600" y="1028700"/>
            <a:ext cx="10972800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Documentos Electrónicos, Contratos Informáticos y Contratos Electrónicos</a:t>
            </a:r>
            <a:endParaRPr lang="en-US" sz="4500" dirty="0"/>
          </a:p>
        </p:txBody>
      </p:sp>
      <p:sp>
        <p:nvSpPr>
          <p:cNvPr id="9" name="Text 2"/>
          <p:cNvSpPr/>
          <p:nvPr/>
        </p:nvSpPr>
        <p:spPr>
          <a:xfrm>
            <a:off x="4386337" y="4229100"/>
            <a:ext cx="341917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Presentado por: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4386337" y="4610100"/>
            <a:ext cx="34191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Dra. Carla Cuellar</a:t>
            </a:r>
            <a:endParaRPr lang="en-US" sz="2250" dirty="0"/>
          </a:p>
        </p:txBody>
      </p:sp>
      <p:sp>
        <p:nvSpPr>
          <p:cNvPr id="11" name="Text 4"/>
          <p:cNvSpPr/>
          <p:nvPr/>
        </p:nvSpPr>
        <p:spPr>
          <a:xfrm>
            <a:off x="3650888" y="5334000"/>
            <a:ext cx="489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Facultad de Ingeniería en Sistemas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3650888" y="5600700"/>
            <a:ext cx="48900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Gálvez de Guatemala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4058394" y="6019800"/>
            <a:ext cx="40750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2024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5220891" y="6591300"/>
            <a:ext cx="21002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 Informático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562600" cy="2819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9812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5527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1242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4000500"/>
            <a:ext cx="5562600" cy="2781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2291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5295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56007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1341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952500"/>
            <a:ext cx="5562600" cy="2781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11811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1809750"/>
            <a:ext cx="28575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196215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2838450"/>
            <a:ext cx="352276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4964" y="299085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3962400"/>
            <a:ext cx="5562600" cy="1905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4191000"/>
            <a:ext cx="1428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4572000"/>
            <a:ext cx="24765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2100" y="4572000"/>
            <a:ext cx="24765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5181600"/>
            <a:ext cx="24765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2100" y="5181600"/>
            <a:ext cx="2476500" cy="457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 Informático - Nociones Generales</a:t>
            </a:r>
            <a:endParaRPr lang="en-US" sz="2250" dirty="0"/>
          </a:p>
        </p:txBody>
      </p:sp>
      <p:sp>
        <p:nvSpPr>
          <p:cNvPr id="27" name="Text 1"/>
          <p:cNvSpPr/>
          <p:nvPr/>
        </p:nvSpPr>
        <p:spPr>
          <a:xfrm>
            <a:off x="876300" y="1181100"/>
            <a:ext cx="51054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Transición a la Sociedad de la Información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742950" y="194310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Reconfiguración drástica de las interacciones sociales, culturales y económicas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742950" y="251460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 TIC desempeñan un rol intensivo y predominante en la creación, procesamiento y distribución de información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742950" y="3086100"/>
            <a:ext cx="489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Desafío para los ordenamientos jurídicos tradicionalmente anclados en la "cultura del papel"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933450" y="42291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Propósito del Derecho Informático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533400" y="46863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Rama especializada del derecho que establece un marco normativo para: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762000" y="5257800"/>
            <a:ext cx="5626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el impacto, uso y desarrollo de las TIC en la sociedad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762000" y="556260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Proteger datos personales, seguridad informática y propiedad intelectual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762000" y="6096000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Garantizar la validez de los actos jurídicos celebrados por medios electrónicos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6953250" y="11811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Pilares del Derecho Informático</a:t>
            </a:r>
            <a:endParaRPr lang="en-US" sz="1800" dirty="0"/>
          </a:p>
        </p:txBody>
      </p:sp>
      <p:sp>
        <p:nvSpPr>
          <p:cNvPr id="37" name="Text 11"/>
          <p:cNvSpPr/>
          <p:nvPr/>
        </p:nvSpPr>
        <p:spPr>
          <a:xfrm>
            <a:off x="6991350" y="1638300"/>
            <a:ext cx="5600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Equilibrio de Intereses</a:t>
            </a:r>
            <a:endParaRPr lang="en-US" sz="1350" dirty="0"/>
          </a:p>
        </p:txBody>
      </p:sp>
      <p:sp>
        <p:nvSpPr>
          <p:cNvPr id="38" name="Text 12"/>
          <p:cNvSpPr/>
          <p:nvPr/>
        </p:nvSpPr>
        <p:spPr>
          <a:xfrm>
            <a:off x="6991350" y="1905000"/>
            <a:ext cx="46672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Permitir el uso eficaz de nuevas tecnologías y proteger la confianza en la autenticidad y seguridad de documentos y transacciones electrónicas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7057876" y="2781300"/>
            <a:ext cx="46007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Marco Normativo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7057876" y="3048000"/>
            <a:ext cx="460072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Establecer reglas claras y previsibles para la utilización de tecnologías digitales en la sociedad moderna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810375" y="41910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Conceptos Centrales</a:t>
            </a:r>
            <a:endParaRPr lang="en-US" sz="1500" dirty="0"/>
          </a:p>
        </p:txBody>
      </p:sp>
      <p:sp>
        <p:nvSpPr>
          <p:cNvPr id="42" name="Text 16"/>
          <p:cNvSpPr/>
          <p:nvPr/>
        </p:nvSpPr>
        <p:spPr>
          <a:xfrm>
            <a:off x="6667500" y="46863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Documento Electrónico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9296400" y="46863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Electrónico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6667500" y="5295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Firma Electrónica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9296400" y="5295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 Jurídico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11582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375" y="2228850"/>
            <a:ext cx="24384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988" y="2381250"/>
            <a:ext cx="25717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2175" y="266700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2095500"/>
            <a:ext cx="2438400" cy="1485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7113" y="2247900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810000"/>
            <a:ext cx="3759101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96240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16301" y="3810000"/>
            <a:ext cx="3759250" cy="1257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8701" y="396240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7950" y="3810000"/>
            <a:ext cx="3759101" cy="1257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0350" y="39624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5295900"/>
            <a:ext cx="11582400" cy="1104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5619750"/>
            <a:ext cx="44202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3435" y="5695950"/>
            <a:ext cx="28575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Principio de Equivalencia Funcional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495300" y="1143000"/>
            <a:ext cx="11201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Definición: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Principio fundamental del derecho informático que otorga a los documentos, comunicaciones y firmas electrónicas el mismo valor jurídico y eficacia probatoria que sus contrapartes en formato físico o tradicional.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3320415" y="283845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Documento Físico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3533775" y="3105150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Soporte papel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6524625" y="2705100"/>
            <a:ext cx="213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Documento Electrónico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6311265" y="3238500"/>
            <a:ext cx="25603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Soporte electrónico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828675" y="3981450"/>
            <a:ext cx="31189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Requisito de Forma Escrita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457200" y="4343400"/>
            <a:ext cx="3454301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Cuando la ley exige que un acto conste "por escrito", se considera satisfecho si la información es accesible para su ulterior consulta.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4768751" y="3981450"/>
            <a:ext cx="21908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Requisito de Firma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4368701" y="4343400"/>
            <a:ext cx="34544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 la normativa requiere una firma autógrafa, esta exigencia se cumple mediante el uso de una firma electrónica asociada al documento.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8623250" y="3981450"/>
            <a:ext cx="29494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Requisito de Originalidad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8280350" y="4343400"/>
            <a:ext cx="3454301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satisface si se ha garantizado la integridad de la información desde su generación y está disponible para su consulta.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1089720" y="5486400"/>
            <a:ext cx="10606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Principio Complementario: Neutralidad Tecnológica</a:t>
            </a:r>
            <a:endParaRPr lang="en-US" sz="1350" dirty="0"/>
          </a:p>
        </p:txBody>
      </p:sp>
      <p:sp>
        <p:nvSpPr>
          <p:cNvPr id="32" name="Text 13"/>
          <p:cNvSpPr/>
          <p:nvPr/>
        </p:nvSpPr>
        <p:spPr>
          <a:xfrm>
            <a:off x="1089720" y="5753100"/>
            <a:ext cx="106069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ley no debe favorecer ni discriminar el uso de una tecnología específica, fomentando la flexibilidad y adaptación a los avances tecnológicos.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676900" cy="2095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952500"/>
            <a:ext cx="5676900" cy="876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1049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2382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952500"/>
            <a:ext cx="5676900" cy="2095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952500"/>
            <a:ext cx="5676900" cy="876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11049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123825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276600"/>
            <a:ext cx="5676900" cy="2552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276600"/>
            <a:ext cx="5676900" cy="876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4290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75" y="356235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3276600"/>
            <a:ext cx="5676900" cy="2552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276600"/>
            <a:ext cx="5676900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448050"/>
            <a:ext cx="533995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398" y="3581400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Terminología Jurídica Digital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1181100" y="1238250"/>
            <a:ext cx="396585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Comunicación Electrónica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457200" y="1981200"/>
            <a:ext cx="53721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Toda comunicación que las partes realizan por medio de mensajes de datos. Este término abarca un amplio espectro de interacciones digitales, desde correos electrónicos hasta mensajes instantáneos y transacciones en plataformas en línea.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086600" y="1238250"/>
            <a:ext cx="27519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Mensaje de Datos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6362700" y="1981200"/>
            <a:ext cx="53721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 generada, enviada, recibida, archivada o comunicada por medios electrónicos, ópticos o similares. Es la unidad fundamental de la comunicación electrónica y el contenedor de la información que constituye un documento o contrato electrónico.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181100" y="3562350"/>
            <a:ext cx="2705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Firma Electrónica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457200" y="4305300"/>
            <a:ext cx="537210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en forma electrónica consignados en una comunicación electrónica, o adjuntados o lógicamente asociados al mismo, que puedan ser utilizados para identificar al firmante con relación a la comunicación electrónica e indicar que el firmante aprueba la información recogida en la comunicación electrónica. Es el equivalente funcional de la firma manuscrita en el entorno digital.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049095" y="3429000"/>
            <a:ext cx="468570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Prestador de Servicios de Certificación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6362700" y="4343400"/>
            <a:ext cx="53721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Entidad, pública o privada, autorizada para emitir certificados en relación con las firmas electrónicas, ofrecer o facilitar los servicios de creación y verificación de firmas, y garantizar la vinculación entre un firmante y los datos de creación de firma. Su función es generar confianza en las transacciones electrónicas.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838200"/>
            <a:ext cx="11811000" cy="1638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1028700"/>
            <a:ext cx="1714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5750" y="2628900"/>
            <a:ext cx="7340352" cy="87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1950" y="2705100"/>
            <a:ext cx="2370832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641" y="2781300"/>
            <a:ext cx="1714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7082" y="293370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2832" y="2914650"/>
            <a:ext cx="1215182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4213" y="2914650"/>
            <a:ext cx="1257449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97862" y="2914650"/>
            <a:ext cx="1792039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500" y="3619500"/>
            <a:ext cx="5829300" cy="1219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37338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250" y="390525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3619500"/>
            <a:ext cx="5829300" cy="1219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0" y="37338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525" y="3905250"/>
            <a:ext cx="17145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500" y="4991100"/>
            <a:ext cx="5829300" cy="1219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51054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675" y="5276850"/>
            <a:ext cx="28575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4991100"/>
            <a:ext cx="5829300" cy="1219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0" y="51054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43663" y="5276850"/>
            <a:ext cx="257175" cy="228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Documento Electrónico - Definición y Elementos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628650" y="990600"/>
            <a:ext cx="11506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Definición de Documento Electrónico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342900" y="1371600"/>
            <a:ext cx="11506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Conceptualización del documento electrónico ha sido un tema de debate en la doctrina jurídica. No existe un consenso claro en torno a una definición uniforme, ya que el concepto tradicional de "documento" estaba ligado al soporte físico.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342900" y="1866900"/>
            <a:ext cx="11506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 un sentido funcional, un documento es cualquier objeto que contiene información y representa un hecho, sin importar su naturaleza, soporte o proceso de elaboración.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2493466" y="3124200"/>
            <a:ext cx="2387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Documento Electrónico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5387132" y="2914650"/>
            <a:ext cx="145821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Representa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6678513" y="2914650"/>
            <a:ext cx="150893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8012162" y="2914650"/>
            <a:ext cx="215044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Actos de Voluntad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1028700" y="37338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Soporte Material</a:t>
            </a:r>
            <a:endParaRPr lang="en-US" sz="1500" dirty="0"/>
          </a:p>
        </p:txBody>
      </p:sp>
      <p:sp>
        <p:nvSpPr>
          <p:cNvPr id="34" name="Text 9"/>
          <p:cNvSpPr/>
          <p:nvPr/>
        </p:nvSpPr>
        <p:spPr>
          <a:xfrm>
            <a:off x="1028700" y="4038600"/>
            <a:ext cx="4876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Dispositivo físico para almacenar datos digitales. Ejemplos: disco duro, SSD, cinta magnética, DVD, memoria USB o almacenamiento en nube.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7010400" y="3733800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Mensaje o Contenido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7010400" y="4038600"/>
            <a:ext cx="4876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 misma o declaración de voluntad representada. Codificada en lenguaje interpretable por computadoras, típicamente en sistema binario.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1028700" y="51054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Lenguaje o Idioma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1028700" y="5410200"/>
            <a:ext cx="4876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Conjunto de signos y reglas (protocolos, formatos) para codificar el mensaje. Permite que el contenido sea estructurado y interpretado de forma consistente.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7010400" y="5105400"/>
            <a:ext cx="58521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Medio para Grabar los Signos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7010400" y="5410200"/>
            <a:ext cx="48768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Tecnología (hardware y software) para crear, registrar y almacenar el mensaje. Incluye teclado, ratón y algoritmos de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76300"/>
            <a:ext cx="117348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876300"/>
            <a:ext cx="29337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2300" y="876300"/>
            <a:ext cx="58674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876300"/>
            <a:ext cx="29337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1333500"/>
            <a:ext cx="117348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1943100"/>
            <a:ext cx="11734800" cy="838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2781300"/>
            <a:ext cx="11734800" cy="838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3771900"/>
            <a:ext cx="5753100" cy="3086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39624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825" y="403860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5372100"/>
            <a:ext cx="5372100" cy="1295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58293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609600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6362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3771900"/>
            <a:ext cx="5753100" cy="3086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9624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40386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5372100"/>
            <a:ext cx="5372100" cy="1295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58293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5100" y="6096000"/>
            <a:ext cx="1143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6362700"/>
            <a:ext cx="1905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Contratos Informáticos vs Contratos Electrónicos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381000" y="876300"/>
            <a:ext cx="2933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Criterio</a:t>
            </a:r>
            <a:endParaRPr lang="en-US" sz="1200" dirty="0"/>
          </a:p>
        </p:txBody>
      </p:sp>
      <p:sp>
        <p:nvSpPr>
          <p:cNvPr id="27" name="Text 2"/>
          <p:cNvSpPr/>
          <p:nvPr/>
        </p:nvSpPr>
        <p:spPr>
          <a:xfrm>
            <a:off x="3314700" y="876300"/>
            <a:ext cx="5867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Informático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9182100" y="876300"/>
            <a:ext cx="35204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Electrónico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381000" y="1333500"/>
            <a:ext cx="352044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Definición basada en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3314700" y="1333500"/>
            <a:ext cx="704088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objeto del contrato (bienes o servicios informáticos)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9182100" y="1333500"/>
            <a:ext cx="29337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forma de celebración del contrato (medios electrónicos)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381000" y="1943100"/>
            <a:ext cx="352044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Enfoque principal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3314700" y="1943100"/>
            <a:ext cx="704088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Técnico y comercial, centrado en la tecnología objeto del acuerdo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9182100" y="1943100"/>
            <a:ext cx="29337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Jurídico y procedimental, centrado en el medio de formación del consentimiento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381000" y="2781300"/>
            <a:ext cx="29337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3314700" y="2781300"/>
            <a:ext cx="704088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 acuerdo firmado en papel para el desarrollo de una aplicación móvil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9182100" y="2781300"/>
            <a:ext cx="29337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compra de un libro en una tienda en línea, aceptando los términos con un clic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1028700" y="4057650"/>
            <a:ext cx="26994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Informático</a:t>
            </a:r>
            <a:endParaRPr lang="en-US" sz="1500" dirty="0"/>
          </a:p>
        </p:txBody>
      </p:sp>
      <p:sp>
        <p:nvSpPr>
          <p:cNvPr id="39" name="Text 14"/>
          <p:cNvSpPr/>
          <p:nvPr/>
        </p:nvSpPr>
        <p:spPr>
          <a:xfrm>
            <a:off x="419100" y="4572000"/>
            <a:ext cx="5372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define por su </a:t>
            </a: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objeto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 Los contratos informáticos tratan sobre bienes o servicios informáticos, independientemente de su forma de celebración.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533400" y="5486400"/>
            <a:ext cx="514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609600" y="57912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Desarrollo de software a medida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590550" y="605790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Licencia de uso de software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571500" y="63246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Mantenimiento de hardware o software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7010400" y="4057650"/>
            <a:ext cx="26476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Electrónico</a:t>
            </a:r>
            <a:endParaRPr lang="en-US" sz="1500" dirty="0"/>
          </a:p>
        </p:txBody>
      </p:sp>
      <p:sp>
        <p:nvSpPr>
          <p:cNvPr id="45" name="Text 20"/>
          <p:cNvSpPr/>
          <p:nvPr/>
        </p:nvSpPr>
        <p:spPr>
          <a:xfrm>
            <a:off x="6400800" y="4572000"/>
            <a:ext cx="5372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define por su </a:t>
            </a: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forma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 Los contratos electrónicos se celebran y ejecutan por medios electrónicos, sin necesidad de presencia física simultánea.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6515100" y="5486400"/>
            <a:ext cx="5143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Ejemplos:</a:t>
            </a:r>
            <a:endParaRPr lang="en-US" sz="1200" dirty="0"/>
          </a:p>
        </p:txBody>
      </p:sp>
      <p:sp>
        <p:nvSpPr>
          <p:cNvPr id="47" name="Text 22"/>
          <p:cNvSpPr/>
          <p:nvPr/>
        </p:nvSpPr>
        <p:spPr>
          <a:xfrm>
            <a:off x="6572250" y="5791200"/>
            <a:ext cx="5334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Compra de un libro en línea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6515100" y="60579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de trabajo firmado digitalmente</a:t>
            </a:r>
            <a:endParaRPr lang="en-US" sz="1200" dirty="0"/>
          </a:p>
        </p:txBody>
      </p:sp>
      <p:sp>
        <p:nvSpPr>
          <p:cNvPr id="49" name="Text 24"/>
          <p:cNvSpPr/>
          <p:nvPr/>
        </p:nvSpPr>
        <p:spPr>
          <a:xfrm>
            <a:off x="6591300" y="6324600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Alojamiento web o servicios en la nube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14400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295400"/>
            <a:ext cx="3810000" cy="1676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478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38" y="15049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0" y="1295400"/>
            <a:ext cx="3810000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400" y="14478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4838" y="15049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1295400"/>
            <a:ext cx="38100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144780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7238" y="15049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3162300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3543300"/>
            <a:ext cx="5791200" cy="1676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6957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775" y="37528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3543300"/>
            <a:ext cx="5791200" cy="1676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36957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6038" y="3752850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5372100"/>
            <a:ext cx="5791200" cy="1676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52450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6250" y="558165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5372100"/>
            <a:ext cx="5791200" cy="1676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552450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850" y="5581650"/>
            <a:ext cx="190500" cy="2667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52400"/>
            <a:ext cx="138988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Aspectos Básicos de los Contratos Digitales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514350" y="876300"/>
            <a:ext cx="1173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Elementos Esenciales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876300" y="1504950"/>
            <a:ext cx="20297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Consentimiento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381000" y="1905000"/>
            <a:ext cx="3505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Manifestación de la voluntad de las partes de obligarse. Se expresa a través de medios electrónicos: clic en "Acepto", firma electrónica, etc.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4838700" y="1504950"/>
            <a:ext cx="21118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Capacidad Legal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4343400" y="1905000"/>
            <a:ext cx="3505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 partes deben tener la capacidad jurídica para obligarse. En el entorno digital, pueden surgir desafíos relacionados con la verificación de identidad y edad.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8801100" y="1504950"/>
            <a:ext cx="28608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Objeto y Causa Lícitos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8305800" y="1905000"/>
            <a:ext cx="35052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bien, servicio o hecho sobre el que recae el contrato, así como la finalidad del mismo, deben ser legales y no contravenir el orden público ni las buenas costumbres.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571500" y="3124200"/>
            <a:ext cx="1173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Consideraciones Adicionales</a:t>
            </a:r>
            <a:endParaRPr lang="en-US" sz="1800" dirty="0"/>
          </a:p>
        </p:txBody>
      </p:sp>
      <p:sp>
        <p:nvSpPr>
          <p:cNvPr id="36" name="Text 9"/>
          <p:cNvSpPr/>
          <p:nvPr/>
        </p:nvSpPr>
        <p:spPr>
          <a:xfrm>
            <a:off x="876300" y="3752850"/>
            <a:ext cx="298144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Seguridad e Integridad</a:t>
            </a:r>
            <a:endParaRPr lang="en-US" sz="1500" dirty="0"/>
          </a:p>
        </p:txBody>
      </p:sp>
      <p:sp>
        <p:nvSpPr>
          <p:cNvPr id="37" name="Text 10"/>
          <p:cNvSpPr/>
          <p:nvPr/>
        </p:nvSpPr>
        <p:spPr>
          <a:xfrm>
            <a:off x="381000" y="4152900"/>
            <a:ext cx="5486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Garantizar la seguridad de la transacción y la integridad del documento contractual. Tecnologías como el cifrado de datos y las firmas digitales con sellado de tiempo protegen contra alteraciones no autorizadas.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6819900" y="3752850"/>
            <a:ext cx="25951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Protección de Datos</a:t>
            </a:r>
            <a:endParaRPr lang="en-US" sz="1500" dirty="0"/>
          </a:p>
        </p:txBody>
      </p:sp>
      <p:sp>
        <p:nvSpPr>
          <p:cNvPr id="39" name="Text 12"/>
          <p:cNvSpPr/>
          <p:nvPr/>
        </p:nvSpPr>
        <p:spPr>
          <a:xfrm>
            <a:off x="6324600" y="4152900"/>
            <a:ext cx="5486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 empresas que gestionan contratos digitales deben ser diligentes en la protección de los datos personales de los usuarios, cumpliendo con normativas como el RGPD en Europa.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876300" y="5581650"/>
            <a:ext cx="23736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Validez Probatoria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381000" y="5981700"/>
            <a:ext cx="5486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Gracias al principio de equivalencia funcional, las legislaciones modernas admiten los documentos y firmas electrónicas como prueba en juicio, siempre que se pueda garantizar su autenticidad e integridad.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819900" y="5581650"/>
            <a:ext cx="3507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Jurisdicción y Ley Aplicable</a:t>
            </a:r>
            <a:endParaRPr lang="en-US" sz="1500" dirty="0"/>
          </a:p>
        </p:txBody>
      </p:sp>
      <p:sp>
        <p:nvSpPr>
          <p:cNvPr id="43" name="Text 16"/>
          <p:cNvSpPr/>
          <p:nvPr/>
        </p:nvSpPr>
        <p:spPr>
          <a:xfrm>
            <a:off x="6324600" y="5981700"/>
            <a:ext cx="54864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 disputas transfronterizas, determinar qué tribunales son competentes y qué ley se debe aplicar puede ser complejo, lo que exige cláusulas contractuales claras al respecto.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76300"/>
            <a:ext cx="3759101" cy="518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876300"/>
            <a:ext cx="3759101" cy="876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028700"/>
            <a:ext cx="374452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26" y="120015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743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276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810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381500"/>
            <a:ext cx="3454301" cy="1524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95300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6250" y="4953000"/>
            <a:ext cx="952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54864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6250" y="54864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6301" y="876300"/>
            <a:ext cx="3759250" cy="5181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6301" y="876300"/>
            <a:ext cx="3759250" cy="876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68701" y="102870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40151" y="120015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68701" y="3009900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63951" y="30861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68701" y="39243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25851" y="40005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04150" y="876300"/>
            <a:ext cx="3759101" cy="5181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150" y="876300"/>
            <a:ext cx="3759101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56550" y="1028700"/>
            <a:ext cx="515094" cy="571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14011" y="1200150"/>
            <a:ext cx="200025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56550" y="3009900"/>
            <a:ext cx="1670000" cy="647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750" y="32385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0851" y="3009900"/>
            <a:ext cx="1670000" cy="647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17051" y="323850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56550" y="3771900"/>
            <a:ext cx="1670000" cy="419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2750" y="38862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40851" y="3771900"/>
            <a:ext cx="1670000" cy="4191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217051" y="38862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56550" y="4305300"/>
            <a:ext cx="3454301" cy="9906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470850" y="472440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2400" y="6610350"/>
            <a:ext cx="133350" cy="13335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Contratos Especializados</a:t>
            </a:r>
            <a:endParaRPr lang="en-US" sz="2250" dirty="0"/>
          </a:p>
        </p:txBody>
      </p:sp>
      <p:sp>
        <p:nvSpPr>
          <p:cNvPr id="41" name="Text 1"/>
          <p:cNvSpPr/>
          <p:nvPr/>
        </p:nvSpPr>
        <p:spPr>
          <a:xfrm>
            <a:off x="869752" y="1047750"/>
            <a:ext cx="296554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Individual de Trabajo Electrónico</a:t>
            </a:r>
            <a:endParaRPr lang="en-US" sz="1500" dirty="0"/>
          </a:p>
        </p:txBody>
      </p:sp>
      <p:sp>
        <p:nvSpPr>
          <p:cNvPr id="42" name="Text 2"/>
          <p:cNvSpPr/>
          <p:nvPr/>
        </p:nvSpPr>
        <p:spPr>
          <a:xfrm>
            <a:off x="381000" y="1905000"/>
            <a:ext cx="34543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Versión digital del contrato de trabajo tradicional, que se formaliza y gestiona a través de medios digitales.</a:t>
            </a:r>
            <a:endParaRPr lang="en-US" sz="1200" dirty="0"/>
          </a:p>
        </p:txBody>
      </p:sp>
      <p:sp>
        <p:nvSpPr>
          <p:cNvPr id="43" name="Text 3"/>
          <p:cNvSpPr/>
          <p:nvPr/>
        </p:nvSpPr>
        <p:spPr>
          <a:xfrm>
            <a:off x="609600" y="27051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Elementos esenciales iguales a los contratos en papel</a:t>
            </a:r>
            <a:endParaRPr lang="en-US" sz="1200" dirty="0"/>
          </a:p>
        </p:txBody>
      </p:sp>
      <p:sp>
        <p:nvSpPr>
          <p:cNvPr id="44" name="Text 4"/>
          <p:cNvSpPr/>
          <p:nvPr/>
        </p:nvSpPr>
        <p:spPr>
          <a:xfrm>
            <a:off x="609600" y="32385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Validez jurídica basada en el principio de equivalencia funcional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609600" y="3771900"/>
            <a:ext cx="32257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Protección de datos y firma electrónica con sellado de tiempo</a:t>
            </a:r>
            <a:endParaRPr lang="en-US" sz="1200" dirty="0"/>
          </a:p>
        </p:txBody>
      </p:sp>
      <p:sp>
        <p:nvSpPr>
          <p:cNvPr id="46" name="Text 6"/>
          <p:cNvSpPr/>
          <p:nvPr/>
        </p:nvSpPr>
        <p:spPr>
          <a:xfrm>
            <a:off x="495300" y="4495800"/>
            <a:ext cx="32257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Ventajas:</a:t>
            </a:r>
            <a:endParaRPr lang="en-US" sz="1200" dirty="0"/>
          </a:p>
        </p:txBody>
      </p:sp>
      <p:sp>
        <p:nvSpPr>
          <p:cNvPr id="47" name="Text 7"/>
          <p:cNvSpPr/>
          <p:nvPr/>
        </p:nvSpPr>
        <p:spPr>
          <a:xfrm>
            <a:off x="685800" y="4914900"/>
            <a:ext cx="7379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Agilidad</a:t>
            </a:r>
            <a:endParaRPr lang="en-US" sz="1200" dirty="0"/>
          </a:p>
        </p:txBody>
      </p:sp>
      <p:sp>
        <p:nvSpPr>
          <p:cNvPr id="48" name="Text 8"/>
          <p:cNvSpPr/>
          <p:nvPr/>
        </p:nvSpPr>
        <p:spPr>
          <a:xfrm>
            <a:off x="2317700" y="4800600"/>
            <a:ext cx="1403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Reducción de costos</a:t>
            </a:r>
            <a:endParaRPr lang="en-US" sz="1200" dirty="0"/>
          </a:p>
        </p:txBody>
      </p:sp>
      <p:sp>
        <p:nvSpPr>
          <p:cNvPr id="49" name="Text 9"/>
          <p:cNvSpPr/>
          <p:nvPr/>
        </p:nvSpPr>
        <p:spPr>
          <a:xfrm>
            <a:off x="723900" y="5334000"/>
            <a:ext cx="1346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Contratación remota</a:t>
            </a:r>
            <a:endParaRPr lang="en-US" sz="1200" dirty="0"/>
          </a:p>
        </p:txBody>
      </p:sp>
      <p:sp>
        <p:nvSpPr>
          <p:cNvPr id="50" name="Text 10"/>
          <p:cNvSpPr/>
          <p:nvPr/>
        </p:nvSpPr>
        <p:spPr>
          <a:xfrm>
            <a:off x="2355800" y="5334000"/>
            <a:ext cx="136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 gestión documental</a:t>
            </a:r>
            <a:endParaRPr lang="en-US" sz="1200" dirty="0"/>
          </a:p>
        </p:txBody>
      </p:sp>
      <p:sp>
        <p:nvSpPr>
          <p:cNvPr id="51" name="Text 11"/>
          <p:cNvSpPr/>
          <p:nvPr/>
        </p:nvSpPr>
        <p:spPr>
          <a:xfrm>
            <a:off x="5054501" y="1181100"/>
            <a:ext cx="30448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de Restricción</a:t>
            </a:r>
            <a:endParaRPr lang="en-US" sz="1500" dirty="0"/>
          </a:p>
        </p:txBody>
      </p:sp>
      <p:sp>
        <p:nvSpPr>
          <p:cNvPr id="52" name="Text 12"/>
          <p:cNvSpPr/>
          <p:nvPr/>
        </p:nvSpPr>
        <p:spPr>
          <a:xfrm>
            <a:off x="4368701" y="1905000"/>
            <a:ext cx="3454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Cláusulas o pactos específicos dentro de un contrato principal que imponen ciertas limitaciones a una de las partes.</a:t>
            </a:r>
            <a:endParaRPr lang="en-US" sz="1200" dirty="0"/>
          </a:p>
        </p:txBody>
      </p:sp>
      <p:sp>
        <p:nvSpPr>
          <p:cNvPr id="53" name="Text 13"/>
          <p:cNvSpPr/>
          <p:nvPr/>
        </p:nvSpPr>
        <p:spPr>
          <a:xfrm>
            <a:off x="4368701" y="2705100"/>
            <a:ext cx="34544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Tipos comunes:</a:t>
            </a:r>
            <a:endParaRPr lang="en-US" sz="1200" dirty="0"/>
          </a:p>
        </p:txBody>
      </p:sp>
      <p:sp>
        <p:nvSpPr>
          <p:cNvPr id="54" name="Text 14"/>
          <p:cNvSpPr/>
          <p:nvPr/>
        </p:nvSpPr>
        <p:spPr>
          <a:xfrm>
            <a:off x="4787801" y="3009900"/>
            <a:ext cx="3035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Competencia</a:t>
            </a:r>
            <a:endParaRPr lang="en-US" sz="1200" dirty="0"/>
          </a:p>
        </p:txBody>
      </p:sp>
      <p:sp>
        <p:nvSpPr>
          <p:cNvPr id="55" name="Text 15"/>
          <p:cNvSpPr/>
          <p:nvPr/>
        </p:nvSpPr>
        <p:spPr>
          <a:xfrm>
            <a:off x="4787801" y="3238500"/>
            <a:ext cx="30353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Limita la capacidad de un exempleado para trabajar en competidora durante un período y área geográfica determinada</a:t>
            </a:r>
            <a:endParaRPr lang="en-US" sz="1050" dirty="0"/>
          </a:p>
        </p:txBody>
      </p:sp>
      <p:sp>
        <p:nvSpPr>
          <p:cNvPr id="56" name="Text 16"/>
          <p:cNvSpPr/>
          <p:nvPr/>
        </p:nvSpPr>
        <p:spPr>
          <a:xfrm>
            <a:off x="4787801" y="3924300"/>
            <a:ext cx="3642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Captación de Clientes</a:t>
            </a:r>
            <a:endParaRPr lang="en-US" sz="1200" dirty="0"/>
          </a:p>
        </p:txBody>
      </p:sp>
      <p:sp>
        <p:nvSpPr>
          <p:cNvPr id="57" name="Text 17"/>
          <p:cNvSpPr/>
          <p:nvPr/>
        </p:nvSpPr>
        <p:spPr>
          <a:xfrm>
            <a:off x="4787801" y="4152900"/>
            <a:ext cx="3035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Prohíbe contactar o hacer negocios con clientes durante un tiempo determinado</a:t>
            </a:r>
            <a:endParaRPr lang="en-US" sz="1050" dirty="0"/>
          </a:p>
        </p:txBody>
      </p:sp>
      <p:sp>
        <p:nvSpPr>
          <p:cNvPr id="58" name="Text 18"/>
          <p:cNvSpPr/>
          <p:nvPr/>
        </p:nvSpPr>
        <p:spPr>
          <a:xfrm>
            <a:off x="8985945" y="1047750"/>
            <a:ext cx="282490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Contrato de Confidencialidad</a:t>
            </a:r>
            <a:endParaRPr lang="en-US" sz="1500" dirty="0"/>
          </a:p>
        </p:txBody>
      </p:sp>
      <p:sp>
        <p:nvSpPr>
          <p:cNvPr id="59" name="Text 19"/>
          <p:cNvSpPr/>
          <p:nvPr/>
        </p:nvSpPr>
        <p:spPr>
          <a:xfrm>
            <a:off x="8356550" y="1905000"/>
            <a:ext cx="3454301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Acuerdo legalmente vinculante para proteger información sensible y prohibir su revelación a terceros no autorizados.</a:t>
            </a:r>
            <a:endParaRPr lang="en-US" sz="1200" dirty="0"/>
          </a:p>
        </p:txBody>
      </p:sp>
      <p:sp>
        <p:nvSpPr>
          <p:cNvPr id="60" name="Text 20"/>
          <p:cNvSpPr/>
          <p:nvPr/>
        </p:nvSpPr>
        <p:spPr>
          <a:xfrm>
            <a:off x="8356550" y="2705100"/>
            <a:ext cx="41451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Componentes esenciales:</a:t>
            </a:r>
            <a:endParaRPr lang="en-US" sz="1200" dirty="0"/>
          </a:p>
        </p:txBody>
      </p:sp>
      <p:sp>
        <p:nvSpPr>
          <p:cNvPr id="61" name="Text 21"/>
          <p:cNvSpPr/>
          <p:nvPr/>
        </p:nvSpPr>
        <p:spPr>
          <a:xfrm>
            <a:off x="8699450" y="3086100"/>
            <a:ext cx="1250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Identificación de las Partes</a:t>
            </a:r>
            <a:endParaRPr lang="en-US" sz="1200" dirty="0"/>
          </a:p>
        </p:txBody>
      </p:sp>
      <p:sp>
        <p:nvSpPr>
          <p:cNvPr id="62" name="Text 22"/>
          <p:cNvSpPr/>
          <p:nvPr/>
        </p:nvSpPr>
        <p:spPr>
          <a:xfrm>
            <a:off x="10407551" y="3086100"/>
            <a:ext cx="1327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 Confidencial</a:t>
            </a:r>
            <a:endParaRPr lang="en-US" sz="1200" dirty="0"/>
          </a:p>
        </p:txBody>
      </p:sp>
      <p:sp>
        <p:nvSpPr>
          <p:cNvPr id="63" name="Text 23"/>
          <p:cNvSpPr/>
          <p:nvPr/>
        </p:nvSpPr>
        <p:spPr>
          <a:xfrm>
            <a:off x="8661350" y="3848100"/>
            <a:ext cx="9519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Finalidad</a:t>
            </a:r>
            <a:endParaRPr lang="en-US" sz="1200" dirty="0"/>
          </a:p>
        </p:txBody>
      </p:sp>
      <p:sp>
        <p:nvSpPr>
          <p:cNvPr id="64" name="Text 24"/>
          <p:cNvSpPr/>
          <p:nvPr/>
        </p:nvSpPr>
        <p:spPr>
          <a:xfrm>
            <a:off x="10445651" y="3848100"/>
            <a:ext cx="9226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65" name="Text 25"/>
          <p:cNvSpPr/>
          <p:nvPr/>
        </p:nvSpPr>
        <p:spPr>
          <a:xfrm>
            <a:off x="8699450" y="4419600"/>
            <a:ext cx="2997101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 aplicación está fuertemente regulada por los tribunales para no afectar el derecho fundamental al trabajo y a la libre competencia</a:t>
            </a:r>
            <a:endParaRPr lang="en-US" sz="1050" dirty="0"/>
          </a:p>
        </p:txBody>
      </p:sp>
      <p:sp>
        <p:nvSpPr>
          <p:cNvPr id="66" name="Text 26"/>
          <p:cNvSpPr/>
          <p:nvPr/>
        </p:nvSpPr>
        <p:spPr>
          <a:xfrm>
            <a:off x="323850" y="6591300"/>
            <a:ext cx="394870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Contratos Especializados en el Entorno Digital</a:t>
            </a:r>
            <a:endParaRPr lang="en-US" sz="1050" dirty="0"/>
          </a:p>
        </p:txBody>
      </p:sp>
      <p:sp>
        <p:nvSpPr>
          <p:cNvPr id="67" name="Text 27"/>
          <p:cNvSpPr/>
          <p:nvPr/>
        </p:nvSpPr>
        <p:spPr>
          <a:xfrm>
            <a:off x="11047065" y="6591300"/>
            <a:ext cx="11910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Página 8 de 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838200"/>
            <a:ext cx="5753100" cy="1943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990600"/>
            <a:ext cx="25717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2057400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24384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933700"/>
            <a:ext cx="57531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838200"/>
            <a:ext cx="5753100" cy="2781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9906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409700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2860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771900"/>
            <a:ext cx="5753100" cy="1714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9243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343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6101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876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5143500"/>
            <a:ext cx="152400" cy="152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Decreto 47-2008 de Guatemala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714375" y="990600"/>
            <a:ext cx="5448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Descripción General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342900" y="1371600"/>
            <a:ext cx="5448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Ley promulgada en 2008 que establece el marco normativo para el reconocimiento de comunicaciones y firmas electrónicas.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590550" y="1905000"/>
            <a:ext cx="5200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Nombre: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Ley para el Reconocimiento de Comunicaciones y Firmas Electrónicas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552450" y="2400300"/>
            <a:ext cx="9942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Año: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2008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342900" y="3086100"/>
            <a:ext cx="54483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Artículo 5° - Principio de Equivalencia Funcional</a:t>
            </a:r>
            <a:endParaRPr lang="en-US" sz="1800" dirty="0"/>
          </a:p>
        </p:txBody>
      </p:sp>
      <p:sp>
        <p:nvSpPr>
          <p:cNvPr id="25" name="Text 6"/>
          <p:cNvSpPr/>
          <p:nvPr/>
        </p:nvSpPr>
        <p:spPr>
          <a:xfrm>
            <a:off x="342900" y="3771900"/>
            <a:ext cx="54483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"No se negarán efectos jurídicos, validez o fuerza obligatoria a una comunicación o a un contrato por la sola razón de que esa comunicación o ese contrato estén en forma de comunicación electrónica."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743700" y="990600"/>
            <a:ext cx="65379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Tipos de Firmas Electrónicas</a:t>
            </a:r>
            <a:endParaRPr lang="en-US" sz="1800" dirty="0"/>
          </a:p>
        </p:txBody>
      </p:sp>
      <p:sp>
        <p:nvSpPr>
          <p:cNvPr id="27" name="Text 8"/>
          <p:cNvSpPr/>
          <p:nvPr/>
        </p:nvSpPr>
        <p:spPr>
          <a:xfrm>
            <a:off x="6715125" y="1371600"/>
            <a:ext cx="5448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Firma Electrónica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629400" y="1676400"/>
            <a:ext cx="5448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en forma electrónica que permiten identificar al firmante y mostrar su aprobación de una comunicación electrónica.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667500" y="2247900"/>
            <a:ext cx="6537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Firma Electrónica Avanzada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6629400" y="2552700"/>
            <a:ext cx="54483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Firma electrónica con requisitos adicionales de seguridad: vinculada unívocamente al firmante, permite su identificación, creada bajo su control exclusivo y ligada al documento para detectar modificaciones.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6743700" y="3924300"/>
            <a:ext cx="54483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Objetivos y Alcance</a:t>
            </a:r>
            <a:endParaRPr lang="en-US" sz="1800" dirty="0"/>
          </a:p>
        </p:txBody>
      </p:sp>
      <p:sp>
        <p:nvSpPr>
          <p:cNvPr id="32" name="Text 13"/>
          <p:cNvSpPr/>
          <p:nvPr/>
        </p:nvSpPr>
        <p:spPr>
          <a:xfrm>
            <a:off x="6629400" y="4305300"/>
            <a:ext cx="4263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Fomentar la confianza en tecnologías digitales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629400" y="4572000"/>
            <a:ext cx="51477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Facilitar el comercio electrónico nacional e internacional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629400" y="4838700"/>
            <a:ext cx="46298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Reducir burocracia y agilizar procesos comerciales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629400" y="5105400"/>
            <a:ext cx="44255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Garantizar autenticidad, integridad y no repudio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76300"/>
            <a:ext cx="3759101" cy="1943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066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11430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1676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22098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6301" y="876300"/>
            <a:ext cx="3759250" cy="1943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6801" y="10668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101" y="11430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6801" y="16764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6801" y="22098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4150" y="876300"/>
            <a:ext cx="3759101" cy="1943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4650" y="10668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4663" y="1143000"/>
            <a:ext cx="25717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650" y="16764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650" y="19812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3048000"/>
            <a:ext cx="11734800" cy="2095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36576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0538" y="3714750"/>
            <a:ext cx="23812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2200" y="3657600"/>
            <a:ext cx="3810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7450" y="371475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44958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0" y="4552950"/>
            <a:ext cx="19050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72200" y="44958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3638" y="4552950"/>
            <a:ext cx="238125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8600" y="5372100"/>
            <a:ext cx="11734800" cy="1104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9100" y="5695950"/>
            <a:ext cx="276671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71636" y="5772150"/>
            <a:ext cx="171450" cy="3048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04800" y="1524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Impacto y Aplicación Práctica</a:t>
            </a:r>
            <a:endParaRPr lang="en-US" sz="2250" dirty="0"/>
          </a:p>
        </p:txBody>
      </p:sp>
      <p:sp>
        <p:nvSpPr>
          <p:cNvPr id="32" name="Text 1"/>
          <p:cNvSpPr/>
          <p:nvPr/>
        </p:nvSpPr>
        <p:spPr>
          <a:xfrm>
            <a:off x="990600" y="1162050"/>
            <a:ext cx="25992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Agilidad y Eficiencia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647700" y="1638300"/>
            <a:ext cx="3149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Procesos acelerados con firmas electrónicas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647700" y="2171700"/>
            <a:ext cx="31495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Contratación remota desde cualquier lugar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4978301" y="1162050"/>
            <a:ext cx="26678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Reducción de Costos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4635401" y="1638300"/>
            <a:ext cx="314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 gastos de papel, impresión y envío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4635401" y="2171700"/>
            <a:ext cx="30244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 digital eficiente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8966150" y="1162050"/>
            <a:ext cx="26087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Gestión Documental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8623250" y="1638300"/>
            <a:ext cx="35791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 centralizado y seguro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8623250" y="1943100"/>
            <a:ext cx="29789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Acceso inmediato a documentos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419100" y="3238500"/>
            <a:ext cx="11353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Impacto en el Sistema Legal Guatemalteco</a:t>
            </a:r>
            <a:endParaRPr lang="en-US" sz="1800" dirty="0"/>
          </a:p>
        </p:txBody>
      </p:sp>
      <p:sp>
        <p:nvSpPr>
          <p:cNvPr id="42" name="Text 11"/>
          <p:cNvSpPr/>
          <p:nvPr/>
        </p:nvSpPr>
        <p:spPr>
          <a:xfrm>
            <a:off x="914400" y="3657600"/>
            <a:ext cx="43322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Modernización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914400" y="3886200"/>
            <a:ext cx="5198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Adaptación del marco legal guatemalteco a la era digital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6667500" y="36576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Comercio Electrónico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6667500" y="38862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Promoción y facilitación del comercio electrónico nacional e internacional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914400" y="4495800"/>
            <a:ext cx="50726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Seguridad Jurídica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914400" y="4724400"/>
            <a:ext cx="60871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Garantía de autenticidad e integridad de documentos electrónicos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667500" y="4495800"/>
            <a:ext cx="51988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Alineación Internacional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6667500" y="4724400"/>
            <a:ext cx="51988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Posicionamiento en línea con estándares internacionales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848171" y="5562600"/>
            <a:ext cx="109247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Conclusión</a:t>
            </a:r>
            <a:endParaRPr lang="en-US" sz="1500" dirty="0"/>
          </a:p>
        </p:txBody>
      </p:sp>
      <p:sp>
        <p:nvSpPr>
          <p:cNvPr id="51" name="Text 20"/>
          <p:cNvSpPr/>
          <p:nvPr/>
        </p:nvSpPr>
        <p:spPr>
          <a:xfrm>
            <a:off x="848171" y="5829300"/>
            <a:ext cx="109247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digitalización del sistema legal guatemalteco mediante la Ley 47-2008 representa una transformación fundamental que mejora la eficiencia, reduce costos y facilita la implementación de tecnologías digitales en la sociedad moderna.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1653</Words>
  <Application>Microsoft Office PowerPoint</Application>
  <PresentationFormat>Panorámica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ui-sans-serif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carla cuellar</cp:lastModifiedBy>
  <cp:revision>1</cp:revision>
  <dcterms:created xsi:type="dcterms:W3CDTF">2026-01-29T19:12:10Z</dcterms:created>
  <dcterms:modified xsi:type="dcterms:W3CDTF">2026-01-29T19:13:55Z</dcterms:modified>
</cp:coreProperties>
</file>