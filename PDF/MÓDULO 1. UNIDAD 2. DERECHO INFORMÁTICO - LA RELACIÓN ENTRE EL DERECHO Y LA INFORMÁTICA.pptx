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116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9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9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9.png"/><Relationship Id="rId10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9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7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70.png"/><Relationship Id="rId4" Type="http://schemas.openxmlformats.org/officeDocument/2006/relationships/image" Target="../media/image8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3.png"/><Relationship Id="rId3" Type="http://schemas.openxmlformats.org/officeDocument/2006/relationships/image" Target="../media/image7.png"/><Relationship Id="rId7" Type="http://schemas.openxmlformats.org/officeDocument/2006/relationships/image" Target="../media/image78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1.png"/><Relationship Id="rId5" Type="http://schemas.openxmlformats.org/officeDocument/2006/relationships/image" Target="../media/image9.png"/><Relationship Id="rId10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80.png"/><Relationship Id="rId14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29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9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30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4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9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3.png"/><Relationship Id="rId18" Type="http://schemas.openxmlformats.org/officeDocument/2006/relationships/image" Target="../media/image137.png"/><Relationship Id="rId3" Type="http://schemas.openxmlformats.org/officeDocument/2006/relationships/image" Target="../media/image7.png"/><Relationship Id="rId7" Type="http://schemas.openxmlformats.org/officeDocument/2006/relationships/image" Target="../media/image128.png"/><Relationship Id="rId12" Type="http://schemas.openxmlformats.org/officeDocument/2006/relationships/image" Target="../media/image74.png"/><Relationship Id="rId17" Type="http://schemas.openxmlformats.org/officeDocument/2006/relationships/image" Target="../media/image13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9.png"/><Relationship Id="rId15" Type="http://schemas.openxmlformats.org/officeDocument/2006/relationships/image" Target="../media/image135.png"/><Relationship Id="rId10" Type="http://schemas.openxmlformats.org/officeDocument/2006/relationships/image" Target="../media/image131.png"/><Relationship Id="rId4" Type="http://schemas.openxmlformats.org/officeDocument/2006/relationships/image" Target="../media/image8.png"/><Relationship Id="rId9" Type="http://schemas.openxmlformats.org/officeDocument/2006/relationships/image" Target="../media/image130.png"/><Relationship Id="rId14" Type="http://schemas.openxmlformats.org/officeDocument/2006/relationships/image" Target="../media/image1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30.png"/><Relationship Id="rId18" Type="http://schemas.openxmlformats.org/officeDocument/2006/relationships/image" Target="../media/image148.png"/><Relationship Id="rId3" Type="http://schemas.openxmlformats.org/officeDocument/2006/relationships/image" Target="../media/image7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9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4" Type="http://schemas.openxmlformats.org/officeDocument/2006/relationships/image" Target="../media/image8.png"/><Relationship Id="rId9" Type="http://schemas.openxmlformats.org/officeDocument/2006/relationships/image" Target="../media/image140.png"/><Relationship Id="rId14" Type="http://schemas.openxmlformats.org/officeDocument/2006/relationships/image" Target="../media/image1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26" Type="http://schemas.openxmlformats.org/officeDocument/2006/relationships/image" Target="../media/image169.png"/><Relationship Id="rId3" Type="http://schemas.openxmlformats.org/officeDocument/2006/relationships/image" Target="../media/image7.png"/><Relationship Id="rId21" Type="http://schemas.openxmlformats.org/officeDocument/2006/relationships/image" Target="../media/image164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5" Type="http://schemas.openxmlformats.org/officeDocument/2006/relationships/image" Target="../media/image16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24" Type="http://schemas.openxmlformats.org/officeDocument/2006/relationships/image" Target="../media/image167.png"/><Relationship Id="rId5" Type="http://schemas.openxmlformats.org/officeDocument/2006/relationships/image" Target="../media/image9.png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10" Type="http://schemas.openxmlformats.org/officeDocument/2006/relationships/image" Target="../media/image153.png"/><Relationship Id="rId19" Type="http://schemas.openxmlformats.org/officeDocument/2006/relationships/image" Target="../media/image162.png"/><Relationship Id="rId4" Type="http://schemas.openxmlformats.org/officeDocument/2006/relationships/image" Target="../media/image8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7.png"/><Relationship Id="rId7" Type="http://schemas.openxmlformats.org/officeDocument/2006/relationships/image" Target="../media/image171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173.png"/><Relationship Id="rId5" Type="http://schemas.openxmlformats.org/officeDocument/2006/relationships/image" Target="../media/image9.png"/><Relationship Id="rId15" Type="http://schemas.openxmlformats.org/officeDocument/2006/relationships/image" Target="../media/image177.png"/><Relationship Id="rId10" Type="http://schemas.openxmlformats.org/officeDocument/2006/relationships/image" Target="../media/image156.png"/><Relationship Id="rId4" Type="http://schemas.openxmlformats.org/officeDocument/2006/relationships/image" Target="../media/image8.png"/><Relationship Id="rId9" Type="http://schemas.openxmlformats.org/officeDocument/2006/relationships/image" Target="../media/image172.png"/><Relationship Id="rId14" Type="http://schemas.openxmlformats.org/officeDocument/2006/relationships/image" Target="../media/image17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187.png"/><Relationship Id="rId18" Type="http://schemas.openxmlformats.org/officeDocument/2006/relationships/image" Target="../media/image192.png"/><Relationship Id="rId3" Type="http://schemas.openxmlformats.org/officeDocument/2006/relationships/image" Target="../media/image7.png"/><Relationship Id="rId21" Type="http://schemas.openxmlformats.org/officeDocument/2006/relationships/image" Target="../media/image195.png"/><Relationship Id="rId7" Type="http://schemas.openxmlformats.org/officeDocument/2006/relationships/image" Target="../media/image182.png"/><Relationship Id="rId12" Type="http://schemas.openxmlformats.org/officeDocument/2006/relationships/image" Target="../media/image186.png"/><Relationship Id="rId17" Type="http://schemas.openxmlformats.org/officeDocument/2006/relationships/image" Target="../media/image191.png"/><Relationship Id="rId25" Type="http://schemas.openxmlformats.org/officeDocument/2006/relationships/image" Target="../media/image19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90.png"/><Relationship Id="rId20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1" Type="http://schemas.openxmlformats.org/officeDocument/2006/relationships/image" Target="../media/image185.png"/><Relationship Id="rId24" Type="http://schemas.openxmlformats.org/officeDocument/2006/relationships/image" Target="../media/image198.png"/><Relationship Id="rId5" Type="http://schemas.openxmlformats.org/officeDocument/2006/relationships/image" Target="../media/image9.png"/><Relationship Id="rId15" Type="http://schemas.openxmlformats.org/officeDocument/2006/relationships/image" Target="../media/image189.png"/><Relationship Id="rId23" Type="http://schemas.openxmlformats.org/officeDocument/2006/relationships/image" Target="../media/image197.png"/><Relationship Id="rId10" Type="http://schemas.openxmlformats.org/officeDocument/2006/relationships/image" Target="../media/image184.png"/><Relationship Id="rId19" Type="http://schemas.openxmlformats.org/officeDocument/2006/relationships/image" Target="../media/image193.png"/><Relationship Id="rId4" Type="http://schemas.openxmlformats.org/officeDocument/2006/relationships/image" Target="../media/image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Relationship Id="rId22" Type="http://schemas.openxmlformats.org/officeDocument/2006/relationships/image" Target="../media/image19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7.png"/><Relationship Id="rId3" Type="http://schemas.openxmlformats.org/officeDocument/2006/relationships/image" Target="../media/image7.png"/><Relationship Id="rId7" Type="http://schemas.openxmlformats.org/officeDocument/2006/relationships/image" Target="../media/image201.png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9.png"/><Relationship Id="rId15" Type="http://schemas.openxmlformats.org/officeDocument/2006/relationships/image" Target="../media/image209.png"/><Relationship Id="rId10" Type="http://schemas.openxmlformats.org/officeDocument/2006/relationships/image" Target="../media/image204.png"/><Relationship Id="rId4" Type="http://schemas.openxmlformats.org/officeDocument/2006/relationships/image" Target="../media/image8.png"/><Relationship Id="rId9" Type="http://schemas.openxmlformats.org/officeDocument/2006/relationships/image" Target="../media/image203.png"/><Relationship Id="rId14" Type="http://schemas.openxmlformats.org/officeDocument/2006/relationships/image" Target="../media/image20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6.png"/><Relationship Id="rId3" Type="http://schemas.openxmlformats.org/officeDocument/2006/relationships/image" Target="../media/image7.png"/><Relationship Id="rId7" Type="http://schemas.openxmlformats.org/officeDocument/2006/relationships/image" Target="../media/image87.png"/><Relationship Id="rId12" Type="http://schemas.openxmlformats.org/officeDocument/2006/relationships/image" Target="../media/image2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11" Type="http://schemas.openxmlformats.org/officeDocument/2006/relationships/image" Target="../media/image214.png"/><Relationship Id="rId5" Type="http://schemas.openxmlformats.org/officeDocument/2006/relationships/image" Target="../media/image9.png"/><Relationship Id="rId10" Type="http://schemas.openxmlformats.org/officeDocument/2006/relationships/image" Target="../media/image130.png"/><Relationship Id="rId4" Type="http://schemas.openxmlformats.org/officeDocument/2006/relationships/image" Target="../media/image8.png"/><Relationship Id="rId9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3" Type="http://schemas.openxmlformats.org/officeDocument/2006/relationships/image" Target="../media/image7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9.png"/><Relationship Id="rId10" Type="http://schemas.openxmlformats.org/officeDocument/2006/relationships/image" Target="../media/image221.png"/><Relationship Id="rId4" Type="http://schemas.openxmlformats.org/officeDocument/2006/relationships/image" Target="../media/image8.png"/><Relationship Id="rId9" Type="http://schemas.openxmlformats.org/officeDocument/2006/relationships/image" Target="../media/image2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29.png"/><Relationship Id="rId3" Type="http://schemas.openxmlformats.org/officeDocument/2006/relationships/image" Target="../media/image7.png"/><Relationship Id="rId7" Type="http://schemas.openxmlformats.org/officeDocument/2006/relationships/image" Target="../media/image87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11" Type="http://schemas.openxmlformats.org/officeDocument/2006/relationships/image" Target="../media/image228.png"/><Relationship Id="rId5" Type="http://schemas.openxmlformats.org/officeDocument/2006/relationships/image" Target="../media/image9.png"/><Relationship Id="rId15" Type="http://schemas.openxmlformats.org/officeDocument/2006/relationships/image" Target="../media/image231.png"/><Relationship Id="rId10" Type="http://schemas.openxmlformats.org/officeDocument/2006/relationships/image" Target="../media/image227.png"/><Relationship Id="rId4" Type="http://schemas.openxmlformats.org/officeDocument/2006/relationships/image" Target="../media/image8.png"/><Relationship Id="rId9" Type="http://schemas.openxmlformats.org/officeDocument/2006/relationships/image" Target="../media/image144.png"/><Relationship Id="rId14" Type="http://schemas.openxmlformats.org/officeDocument/2006/relationships/image" Target="../media/image2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550" y="3448050"/>
            <a:ext cx="238125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50" y="27432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8813" y="3279336"/>
            <a:ext cx="3687573" cy="101370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601" y="2552700"/>
            <a:ext cx="952500" cy="381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295129" y="1143000"/>
            <a:ext cx="56015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kern="0" spc="30" dirty="0">
                <a:solidFill>
                  <a:srgbClr val="E5E7E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UNIVERSIDAD MARIANO GÁVEZ DE GUATEMALA</a:t>
            </a:r>
            <a:endParaRPr lang="en-US" sz="1500" dirty="0"/>
          </a:p>
        </p:txBody>
      </p:sp>
      <p:sp>
        <p:nvSpPr>
          <p:cNvPr id="9" name="Text 1"/>
          <p:cNvSpPr/>
          <p:nvPr/>
        </p:nvSpPr>
        <p:spPr>
          <a:xfrm>
            <a:off x="3295129" y="1409700"/>
            <a:ext cx="56015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27" dirty="0">
                <a:solidFill>
                  <a:srgbClr val="E5E7E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FACULTAD DE INGENIERÍA EN SISTEMAS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1681907" y="1981200"/>
            <a:ext cx="882803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MÓDULO 1. UNIDAD 2</a:t>
            </a:r>
            <a:endParaRPr lang="en-US" sz="2700" dirty="0"/>
          </a:p>
        </p:txBody>
      </p:sp>
      <p:sp>
        <p:nvSpPr>
          <p:cNvPr id="11" name="Text 3"/>
          <p:cNvSpPr/>
          <p:nvPr/>
        </p:nvSpPr>
        <p:spPr>
          <a:xfrm>
            <a:off x="799103" y="2781300"/>
            <a:ext cx="105936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7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 INFORMÁTICO</a:t>
            </a:r>
            <a:endParaRPr lang="en-US" sz="3600" dirty="0"/>
          </a:p>
        </p:txBody>
      </p:sp>
      <p:sp>
        <p:nvSpPr>
          <p:cNvPr id="12" name="Text 4"/>
          <p:cNvSpPr/>
          <p:nvPr/>
        </p:nvSpPr>
        <p:spPr>
          <a:xfrm>
            <a:off x="799103" y="3543300"/>
            <a:ext cx="1059364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kern="0" spc="45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RELACIÓN ENTRE EL DERECHO Y LA INFORMÁTICA</a:t>
            </a:r>
            <a:endParaRPr lang="en-US" sz="2250" dirty="0"/>
          </a:p>
        </p:txBody>
      </p:sp>
      <p:sp>
        <p:nvSpPr>
          <p:cNvPr id="13" name="Text 5"/>
          <p:cNvSpPr/>
          <p:nvPr/>
        </p:nvSpPr>
        <p:spPr>
          <a:xfrm>
            <a:off x="4516398" y="4648200"/>
            <a:ext cx="7654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6655103" y="4648200"/>
            <a:ext cx="10435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Informática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3524250" y="5715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DRA. CARLA CUELLAR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3009900" y="59817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MÓDULO 1. CONCEPTO BÁSICO DE DERECHO INFORMÁTICO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81325"/>
            <a:ext cx="17145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700338"/>
            <a:ext cx="762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138" y="2700338"/>
            <a:ext cx="42862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0" y="2981325"/>
            <a:ext cx="17145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947988"/>
            <a:ext cx="762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947988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300" y="2981325"/>
            <a:ext cx="1714500" cy="1714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6550" y="2719388"/>
            <a:ext cx="762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3238" y="2719388"/>
            <a:ext cx="42862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153025"/>
            <a:ext cx="11277600" cy="9906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95250"/>
            <a:ext cx="704180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- La Sociedad del Conocimiento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7499003" y="209550"/>
            <a:ext cx="423579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457200" y="1409700"/>
            <a:ext cx="112776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albores de la sociedad del conocimiento, se ha originado una revolución industrial relativa a las nuevas tecnologías que conlleva un nuevo avance de la humanidad donde el compartir los conocimientos a través de la información es el objetivo principal.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457200" y="3224213"/>
            <a:ext cx="1714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Digital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457200" y="3833812"/>
            <a:ext cx="17145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ha permeado todas las esferas de la actividad humana, incluyendo el ámbito jurídico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5308238" y="3471863"/>
            <a:ext cx="1575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Cibersociedad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5238750" y="3814763"/>
            <a:ext cx="17145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 humano está viviendo en un entorno digital que transforma nuestra forma de vida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10261416" y="3243263"/>
            <a:ext cx="12321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10020300" y="3586163"/>
            <a:ext cx="171450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constante evolución tecnológica obliga a revisar conceptos y visiones tradicionales para adaptarlos al contexto digital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85800" y="5381625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binomio Informática y Derecho indica con claridad la interacción entre dos ciencias de la cual surge un campo fecundo del saber."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57400"/>
            <a:ext cx="5334000" cy="133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19500"/>
            <a:ext cx="5334000" cy="2133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9050" y="2476500"/>
            <a:ext cx="2857500" cy="2857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9200" y="34861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1885950"/>
            <a:ext cx="2095500" cy="1219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0" y="207645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3050" y="4705350"/>
            <a:ext cx="2095500" cy="1219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3550" y="48958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3050" y="1885950"/>
            <a:ext cx="2095500" cy="1219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3550" y="207645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3755" y="2028230"/>
            <a:ext cx="686989" cy="68698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0055" y="5095280"/>
            <a:ext cx="686989" cy="68698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0055" y="2028230"/>
            <a:ext cx="686989" cy="686989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85750"/>
            <a:ext cx="283571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Cibernética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647700" y="22479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647700" y="2667000"/>
            <a:ext cx="495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cibernética es la ciencia del control y la comunicación en sistemas complejos (animales y máquinas).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647700" y="38100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647700" y="4229100"/>
            <a:ext cx="49530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Sentó las bases teóricas para el desarrollo de la informática y la inteligencia artificial. Su enfoque en los sistemas, la retroalimentación y el procesamiento de información es fundamental para comprender cómo las tecnologías digitales interactúan y se autorregulan.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8548985" y="4057650"/>
            <a:ext cx="12451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Cibernética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7162800" y="2095500"/>
            <a:ext cx="10040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762750" y="2457450"/>
            <a:ext cx="171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complejas que interactúan entre sí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9696450" y="4914900"/>
            <a:ext cx="19943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9353550" y="5276850"/>
            <a:ext cx="171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devolución de información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9667875" y="2095500"/>
            <a:ext cx="16389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9353550" y="2457450"/>
            <a:ext cx="171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la información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09700"/>
            <a:ext cx="5334000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886325"/>
            <a:ext cx="5334000" cy="1790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572125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9150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6257925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247900"/>
            <a:ext cx="5334000" cy="10096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466975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700" y="2600325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448050"/>
            <a:ext cx="5334000" cy="10096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3667125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29413" y="3800475"/>
            <a:ext cx="20002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610100"/>
            <a:ext cx="5334000" cy="10096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3675" y="4829175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6550" y="4962525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772150"/>
            <a:ext cx="5334000" cy="1238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3675" y="6105525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6550" y="6238875"/>
            <a:ext cx="2857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85750"/>
            <a:ext cx="281249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Informática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647700" y="1600200"/>
            <a:ext cx="4953000" cy="1485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informática es la ciencia que estudia el tratamiento automático de la información mediante el uso de computadoras y otros dispositivos electrónicos.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457200" y="3514725"/>
            <a:ext cx="53340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relación con el derecho es la base o fuente fundamental de la sistematización del mismo, entendida como el ordenamiento, análisis y utilización de la tecnología informática encaminada a la evolución del derecho en todas sus áreas.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685800" y="5114925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para el sistema de justicia: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971550" y="5534025"/>
            <a:ext cx="34461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archivo y control de expedientes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52500" y="5876925"/>
            <a:ext cx="34052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el acceso a información relevante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990600" y="6219825"/>
            <a:ext cx="45644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Agiliza la comunicación entre distintas sedes y unidades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400800" y="1409700"/>
            <a:ext cx="5334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informática como fundamento del derecho moderno: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7305675" y="23907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la Información Jurídica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7305675" y="2657475"/>
            <a:ext cx="4286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e investigación de los conocimientos de informática aplicables a la recuperación de información jurídica.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7305675" y="359092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Legales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7305675" y="3857625"/>
            <a:ext cx="4286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la creación y gestión de bases de datos de legislación y jurisprudencia para facilitar su acceso.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305675" y="47529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Normativas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7305675" y="5019675"/>
            <a:ext cx="4286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instrumentos que permitan el acceso, la gestión y el análisis de la información jurídica.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305675" y="591502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Realidad Jurídica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7305675" y="6181725"/>
            <a:ext cx="4286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no es solo un objeto de regulación para el Derecho, sino también un instrumento fundamental para su modernización y eficiencia.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57450"/>
            <a:ext cx="5486400" cy="2876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86050"/>
            <a:ext cx="648891" cy="666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370" y="2847975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05200"/>
            <a:ext cx="5715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733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114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958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8768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457450"/>
            <a:ext cx="5486400" cy="28765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686050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6550" y="2847975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505200"/>
            <a:ext cx="571500" cy="38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733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114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495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876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638800"/>
            <a:ext cx="11277600" cy="914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85750"/>
            <a:ext cx="294929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457200" y="1409700"/>
            <a:ext cx="112776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contexto de la sociedad del conocimiento, la información es el elemento central de esta nueva era. El objetivo principal es compartir saberes a través de la información.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1487091" y="2714625"/>
            <a:ext cx="4227909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como Objeto de Protección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914400" y="3695700"/>
            <a:ext cx="31221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 y confidenciales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914400" y="4076700"/>
            <a:ext cx="204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 a la intimidad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914400" y="4457700"/>
            <a:ext cx="2882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914400" y="4838700"/>
            <a:ext cx="27789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Autodeterminación informativa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7296150" y="2867025"/>
            <a:ext cx="42530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como Materia Prima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6705600" y="3695700"/>
            <a:ext cx="41174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de legislación y jurisprudencia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705600" y="4076700"/>
            <a:ext cx="33054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gestión de expedientes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6705600" y="4457700"/>
            <a:ext cx="34993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información jurídica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6705600" y="4838700"/>
            <a:ext cx="29389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para análisis legal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647700" y="5829300"/>
            <a:ext cx="1089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 el ámbito jurídico-tecnológico, la información adquiere una doble connotación: por un lado, es el objeto de protección y, por otro, es la materia prima que la informática jurídica procesa para hacer más eficiente la labor legal."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75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7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62325"/>
            <a:ext cx="552450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90925"/>
            <a:ext cx="373559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992" y="3724275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619625"/>
            <a:ext cx="5524500" cy="1028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48225"/>
            <a:ext cx="474613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445" y="4981575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362325"/>
            <a:ext cx="552450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590925"/>
            <a:ext cx="469255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619625"/>
            <a:ext cx="55245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848225"/>
            <a:ext cx="352425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2238" y="498157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953125"/>
            <a:ext cx="11277600" cy="914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95250"/>
            <a:ext cx="7613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Tecnologías de la Información y Comunicación (TIC)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8070800" y="209550"/>
            <a:ext cx="366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457200" y="1409700"/>
            <a:ext cx="112776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Tecnologías de la Información y Comunicación (TIC) son el conjunto de herramientas, soportes y canales desarrollados para el tratamiento y acceso a la información. Abarcan desde las computadoras y las redes hasta las telecomunicaciones y el ciberespacio.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457200" y="2828925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de la Práctica Legal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1211759" y="3514725"/>
            <a:ext cx="554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Actos Jurídicos Electrónicos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211759" y="3781425"/>
            <a:ext cx="461754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la realización de contrataciones y notificaciones por medios electrónicos con plena validez legal.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312813" y="4772025"/>
            <a:ext cx="54197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Audiencias a Distancia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312813" y="5038725"/>
            <a:ext cx="451648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la celebración de audiencias virtuales, agilizando los procesos judiciales.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210300" y="2828925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Modernización de la Justicia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7060555" y="3514725"/>
            <a:ext cx="54262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y Firmas Electrónicas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7060555" y="3781425"/>
            <a:ext cx="4521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documentos electrónicos que sirven como prueba válida en diversos juicios.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943725" y="4772025"/>
            <a:ext cx="4638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Integrados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6943725" y="5038725"/>
            <a:ext cx="46386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la implementación de sistemas de gestión que conectan diferentes instituciones del sistema de justicia.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647700" y="6143625"/>
            <a:ext cx="1089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irrupción de las TIC ha transformado radicalmente la práctica legal y la administración de justicia en Guatemala, donde se estudia el uso de plataformas de comunicación en tiempo real y su influencia en la comunicación jurídica."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57450"/>
            <a:ext cx="3555950" cy="2324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860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8194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2457450"/>
            <a:ext cx="3555950" cy="2324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550" y="26860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2288" y="28194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701" y="2457450"/>
            <a:ext cx="3556099" cy="2324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301" y="26860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8751" y="28194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162550"/>
            <a:ext cx="1127760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419725"/>
            <a:ext cx="17145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25307" y="5686425"/>
            <a:ext cx="171450" cy="190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85750"/>
            <a:ext cx="423052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Sociedad y las TIC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457200" y="1409700"/>
            <a:ext cx="112776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masiva adopción de las TIC ha dado lugar a la "sociedad del conocimiento" o "cibersociedad", un entorno donde las interacciones sociales, económicas y culturales están mediadas por la tecnología digital.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409700" y="2838450"/>
            <a:ext cx="25912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Intimidad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85800" y="3409950"/>
            <a:ext cx="30987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la "tecnovigilancia", es fundamental establecer mecanismos legales que protejan la privacidad personal y los datos sensibles en el entorno digital.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5270450" y="2838450"/>
            <a:ext cx="19438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 al Olvido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4546550" y="3409950"/>
            <a:ext cx="309875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del "derecho al olvido" o la desindexación de datos personales plantea desafíos legales sobre cuánto tiempo y bajo qué condiciones la información digital debe ser eliminada.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9131201" y="2838450"/>
            <a:ext cx="20197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Acoso Cibernético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8407301" y="3409950"/>
            <a:ext cx="30988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lucha contra el acoso por medios cibernéticos requiere de marcos legales específicos que definan y sancionen estas conductas en el entorno digital.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933450" y="5391150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este contexto, el Derecho se vuelve una herramienta indispensable para establecer reglas de convivencia social-digital y proteger los derechos de los ciudadanos en el entorno virtual. 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305050"/>
            <a:ext cx="5715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571750"/>
            <a:ext cx="5562600" cy="3305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050" y="2800350"/>
            <a:ext cx="9525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0850" y="308610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3910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6958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0006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2571750"/>
            <a:ext cx="5562600" cy="33051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3450" y="2800350"/>
            <a:ext cx="9525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5388" y="3086100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39102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9244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5229225"/>
            <a:ext cx="1524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95250"/>
            <a:ext cx="7022009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Relación entre el Derecho y la Informática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479209" y="209550"/>
            <a:ext cx="42555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381000" y="1333500"/>
            <a:ext cx="114300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interacción entre el Derecho y la informática es un binomio que ha generado un campo de estudio fértil y dinámico.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1987153" y="3895725"/>
            <a:ext cx="282035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Aspectos Normativos</a:t>
            </a:r>
            <a:endParaRPr lang="en-US" sz="1800" dirty="0"/>
          </a:p>
        </p:txBody>
      </p:sp>
      <p:sp>
        <p:nvSpPr>
          <p:cNvPr id="22" name="Text 4"/>
          <p:cNvSpPr/>
          <p:nvPr/>
        </p:nvSpPr>
        <p:spPr>
          <a:xfrm>
            <a:off x="838200" y="4352925"/>
            <a:ext cx="5581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las consecuencias jurídicas derivadas del uso de tecnologías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38200" y="4657725"/>
            <a:ext cx="31716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Derecho aplicado a la informática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838200" y="49625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dar respuesta a problemas y situaciones del uso de computadoras, redes e internet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761536" y="3895725"/>
            <a:ext cx="30435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Tecnológica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6705600" y="43529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Enfoca en el uso de la tecnología como herramienta para optimizar el trabajo legal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705600" y="4886325"/>
            <a:ext cx="32525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informática al servicio del Derecho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705600" y="51911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crear instrumentos para el acceso, gestión y análisis de información jurídica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09700"/>
            <a:ext cx="11277600" cy="2286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00500"/>
            <a:ext cx="3606701" cy="1790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1910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3243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501" y="4000500"/>
            <a:ext cx="3606850" cy="1790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001" y="41910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4451" y="43243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4000500"/>
            <a:ext cx="3606701" cy="1790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450" y="41910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5613" y="432435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6096000"/>
            <a:ext cx="112776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6400800"/>
            <a:ext cx="2286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85750"/>
            <a:ext cx="62648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 - Definición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685800" y="1638300"/>
            <a:ext cx="10820400" cy="182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técnica interdisciplinaria que tiene por objeto el estudio e investigación de los conocimientos de la informática general, aplicables a la recuperación de información jurídica, así como la elaboración y aprovechamiento de los instrumentos de análisis y tratamiento de información jurídica necesarios para lograr dicha recuperación."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Estrada Zaldaña, 2011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371600" y="4343400"/>
            <a:ext cx="914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47700" y="49149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Estudiar e investigar los conocimientos informáticos aplicables a la recuperación de información jurídica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5206901" y="4343400"/>
            <a:ext cx="14480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4483001" y="4914900"/>
            <a:ext cx="32258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Elaboración y aprovechamiento de herramientas de análisis y tratamiento de información jurídica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9042350" y="4343400"/>
            <a:ext cx="8888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8318450" y="49149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Ordenamiento y análisis del discurso jurídico para crear instrumentos de acceso eficiente a la información jurídica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028700" y="6286500"/>
            <a:ext cx="10515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Informática Jurídica no es una rama del Derecho, sino una ciencia o técnica auxiliar que utiliza herramientas informáticas para optimizar el trabajo legal.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24100"/>
            <a:ext cx="3606850" cy="3810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4300" y="2552700"/>
            <a:ext cx="9525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1950" y="280035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852" y="5810250"/>
            <a:ext cx="2705546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152" y="587692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650" y="2324100"/>
            <a:ext cx="3606850" cy="3810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0" y="2552700"/>
            <a:ext cx="952500" cy="952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4550" y="2800350"/>
            <a:ext cx="3429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8988" y="5810250"/>
            <a:ext cx="2194024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288" y="587692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99" y="2324100"/>
            <a:ext cx="3606850" cy="3810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55200" y="2552700"/>
            <a:ext cx="9525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02850" y="280035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9283" y="5810250"/>
            <a:ext cx="2764482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3583" y="587692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438900"/>
            <a:ext cx="1127760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661035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85750"/>
            <a:ext cx="761505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 la Informática Jurídica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457200" y="1409700"/>
            <a:ext cx="112776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doctrina especializada, tal como lo recoge Barrios Osorio, clasifica la Informática Jurídica en tres grandes áreas: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685800" y="3695700"/>
            <a:ext cx="31496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 de Gestión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685800" y="4419600"/>
            <a:ext cx="3149650" cy="1238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Orientada a la administración y organización de oficinas legales, tribunales y otras entidades del sector justicia. Se enfoca en la optimización de tareas administrativas y de organización dentro del ámbito jurídico.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193602" y="5810250"/>
            <a:ext cx="32466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Oficinas abogados, notarías, juzgados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4521250" y="3695700"/>
            <a:ext cx="31496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 Documental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4521250" y="4419600"/>
            <a:ext cx="3149650" cy="1238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Enfocada en el almacenamiento, tratamiento y recuperación de grandes volúmenes de información jurídica, como leyes, sentencias y doctrina. Busca optimizar la gestión de documentos legales.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5284738" y="5810250"/>
            <a:ext cx="26328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de datos, jurisprudencia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8356699" y="3695700"/>
            <a:ext cx="31496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 Decisional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8356699" y="4419600"/>
            <a:ext cx="3149650" cy="1238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área más avanzada y compleja, que busca crear sistemas de inteligencia artificial capaces de auxiliar en la toma de decisiones jurídicas, a través de sistemas expertos y bases de conocimiento.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8835033" y="5810250"/>
            <a:ext cx="33173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Sistemas expertos, inteligencia artificial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838200" y="65913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Fuente: Barrios Osorio (s.f.), Estrada Zaldaña (2011), Santos Velásquez (s.f.)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580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43188"/>
            <a:ext cx="55245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833688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3" y="2967038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643188"/>
            <a:ext cx="552450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833688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967038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281488"/>
            <a:ext cx="5524500" cy="1409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471988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4605338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4281488"/>
            <a:ext cx="5524500" cy="1409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471988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4605338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995988"/>
            <a:ext cx="11277600" cy="838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6281738"/>
            <a:ext cx="142875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85750"/>
            <a:ext cx="61509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 de Gestión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457200" y="1409700"/>
            <a:ext cx="112776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Informática Jurídica de Gestión se enfoca en la aplicación de la tecnología para la automatización y optimización de las tareas administrativas y de organización dentro del ámbito jurídico. Su objetivo es mejorar la eficiencia, reducir costos y minimizar errores en la gestión de despachos de abogados, notarías, juzgados y otras instituciones del sistema de justicia.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371600" y="2833688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Gestión de Expedientes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1371600" y="3176588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que permiten llevar un control detallado de los casos, incluyendo plazos, actuaciones, documentos asociados y comunicaciones con los clientes.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124700" y="2833688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Oficinas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7124700" y="3176588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para la gestión de la facturación, contabilidad, agenda de citas, control de tiempos y asignación de tareas al personal del despacho.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1371600" y="4471988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Registros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1371600" y="4814888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utilizadas en registros públicos (como el Registro Mercantil o de la Propiedad) para agilizar la inscripción, consulta y certificación de actos y documentos.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124700" y="4471988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Tramitación Procesal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7124700" y="4814888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implementados en los tribunales para la gestión interna de los procesos judiciales, desde la recepción de la demanda hasta la emisión de la sentencia y su posterior ejecución.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866775" y="6148388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Guatemala, la implementación de la informática jurídica de gestión es visible en los esfuerzos de modernización del Organismo Judicial y otras entidades como el Instituto de la Defensa Pública Penal.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09700"/>
            <a:ext cx="11277600" cy="1200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14650"/>
            <a:ext cx="3606701" cy="24669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4800" y="314325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250" y="32766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501" y="2914650"/>
            <a:ext cx="3606850" cy="24669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101" y="314325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551" y="32766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2914650"/>
            <a:ext cx="3606701" cy="24669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5551" y="314325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7001" y="32766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686425"/>
            <a:ext cx="112776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905500"/>
            <a:ext cx="1714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85842" y="6172200"/>
            <a:ext cx="171450" cy="1905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85750"/>
            <a:ext cx="635597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 Informático - Definición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685800" y="1638300"/>
            <a:ext cx="108204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Derecho Informático es "el conjunto de normas jurídicas que regulan la creación, desarrollo, uso y aplicación de la informática o los problemas que se deriven de la misma".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370850" y="3857625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del Derecho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685800" y="4238625"/>
            <a:ext cx="31495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disciplina jurídica que estudia las consecuencias legales del uso de tecnologías de información, tanto de software como de hardware.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4206136" y="3857625"/>
            <a:ext cx="3779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Estudio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4521101" y="4238625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enfoca en el conjunto de principios y normas que regulan los efectos jurídicos de la relación entre el Derecho y la Informática.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8041600" y="3857625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Ámbito de Aplicación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8356550" y="4238625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Abarca el estudio de normas, jurisprudencia y doctrinas relativas al control y la regulación del fenómeno informático.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895350" y="5876925"/>
            <a:ext cx="1089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esencia, el Derecho Informático es el conjunto de principios y normas que regulan las nuevas relaciones y conflictos que surgen con la introducción de la informática en la sociedad. 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333500"/>
            <a:ext cx="5600700" cy="1638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240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165735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333500"/>
            <a:ext cx="56007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5240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7963" y="165735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00400"/>
            <a:ext cx="5600700" cy="1866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3909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5242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200400"/>
            <a:ext cx="5600700" cy="1866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3909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7488" y="3524250"/>
            <a:ext cx="2381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5295900"/>
            <a:ext cx="11430000" cy="1181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4864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561975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285750"/>
            <a:ext cx="685853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del Derecho Informático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295400" y="15240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295400" y="1866900"/>
            <a:ext cx="4495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el tratamiento de la información personal para garantizar el derecho a la intimidad y a la autodeterminación informativa. En Guatemala, existen iniciativas legislativas pero aún se carece de una ley integral específica.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124700" y="15240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Comercio y Contratación Electrónica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124700" y="1866900"/>
            <a:ext cx="4495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 la validez jurídica de los contratos y transacciones realizadas por medios electrónicos. En Guatemala, esta materia está regulada principalmente por la Ley para el Reconocimiento de las Comunicaciones y Firmas Electrónicas (Decreto 47-2008).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295400" y="33909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Delitos Informáticos o Ciberdelincuencia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295400" y="3733800"/>
            <a:ext cx="44958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Tipifica y sanciona las conductas ilícitas que se cometen a través de medios informáticos. Guatemala aprobó la Ley de Prevención y Protección contra la Ciberdelincuencia (Decreto 39-2022), que tipifica delitos como acceso ilícito, interceptación y fraude informático.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124700" y="33909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 Intelectual Digital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124700" y="3733800"/>
            <a:ext cx="4495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los derechos de autor sobre el software, las bases de datos, el contenido multimedia y otras creaciones digitales en el entorno digital.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1295400" y="5486400"/>
            <a:ext cx="1032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Electrónico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1295400" y="5829300"/>
            <a:ext cx="1032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el uso de las TIC por parte del Estado para la prestación de servicios y la realización de trámites con los ciudadanos, facilitando la participación ciudadana y la transparencia.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257300"/>
            <a:ext cx="5676900" cy="3486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4478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8" y="1552575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038350"/>
            <a:ext cx="5295900" cy="1752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905250"/>
            <a:ext cx="52959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0576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895850"/>
            <a:ext cx="5676900" cy="1695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508635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363" y="5191125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1257300"/>
            <a:ext cx="5676900" cy="32575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4478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3675" y="15525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2038350"/>
            <a:ext cx="5295900" cy="1714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2724150"/>
            <a:ext cx="50673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3333750"/>
            <a:ext cx="50673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3867150"/>
            <a:ext cx="52959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40005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0300" y="4667250"/>
            <a:ext cx="5676900" cy="1924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8577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43675" y="4962525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5448300"/>
            <a:ext cx="5295900" cy="9525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95250"/>
            <a:ext cx="771019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y Comercio Electrónico en Guatemala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8167390" y="209550"/>
            <a:ext cx="35674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085850" y="1533525"/>
            <a:ext cx="28353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Comercio Electrónico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609600" y="2152650"/>
            <a:ext cx="5067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para el Reconocimiento de Comunicaciones y Firmas Electrónicas</a:t>
            </a:r>
            <a:endParaRPr lang="en-US" sz="1500" dirty="0"/>
          </a:p>
        </p:txBody>
      </p:sp>
      <p:sp>
        <p:nvSpPr>
          <p:cNvPr id="30" name="Text 4"/>
          <p:cNvSpPr/>
          <p:nvPr/>
        </p:nvSpPr>
        <p:spPr>
          <a:xfrm>
            <a:off x="609600" y="272415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47-2008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609600" y="299085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validez legal a comunicaciones electrónicas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609600" y="321945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 la firma electrónica como válida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609600" y="344805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validez a contratos realizados por medios electrónicos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838200" y="401955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legal establecido y funcionando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1085850" y="5172075"/>
            <a:ext cx="359759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Protección Integral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495300" y="56388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pesar de avances en comercio electrónico, Guatemala carece de: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495300" y="59436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ley integral de protección de datos personales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495300" y="61722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marco regulatorio para privacidad digital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991350" y="1533525"/>
            <a:ext cx="265247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</a:t>
            </a:r>
            <a:endParaRPr lang="en-US" sz="1800" dirty="0"/>
          </a:p>
        </p:txBody>
      </p:sp>
      <p:sp>
        <p:nvSpPr>
          <p:cNvPr id="40" name="Text 14"/>
          <p:cNvSpPr/>
          <p:nvPr/>
        </p:nvSpPr>
        <p:spPr>
          <a:xfrm>
            <a:off x="6515100" y="2152650"/>
            <a:ext cx="5067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existentes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6515100" y="249555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4090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6515100" y="2838450"/>
            <a:ext cx="5067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 de desarrollo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6515100" y="310515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6103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6515100" y="3448050"/>
            <a:ext cx="5067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 de desarrollo</a:t>
            </a:r>
            <a:endParaRPr lang="en-US" sz="1050" dirty="0"/>
          </a:p>
        </p:txBody>
      </p:sp>
      <p:sp>
        <p:nvSpPr>
          <p:cNvPr id="45" name="Text 19"/>
          <p:cNvSpPr/>
          <p:nvPr/>
        </p:nvSpPr>
        <p:spPr>
          <a:xfrm>
            <a:off x="6743700" y="398145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legislativas existentes</a:t>
            </a:r>
            <a:endParaRPr lang="en-US" sz="1200" dirty="0"/>
          </a:p>
        </p:txBody>
      </p:sp>
      <p:sp>
        <p:nvSpPr>
          <p:cNvPr id="46" name="Text 20"/>
          <p:cNvSpPr/>
          <p:nvPr/>
        </p:nvSpPr>
        <p:spPr>
          <a:xfrm>
            <a:off x="6991350" y="4943475"/>
            <a:ext cx="514278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Acceso a la Información Pública</a:t>
            </a:r>
            <a:endParaRPr lang="en-US" sz="1800" dirty="0"/>
          </a:p>
        </p:txBody>
      </p:sp>
      <p:sp>
        <p:nvSpPr>
          <p:cNvPr id="47" name="Text 21"/>
          <p:cNvSpPr/>
          <p:nvPr/>
        </p:nvSpPr>
        <p:spPr>
          <a:xfrm>
            <a:off x="6515100" y="55626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57-2008</a:t>
            </a:r>
            <a:endParaRPr lang="en-US" sz="1200" dirty="0"/>
          </a:p>
        </p:txBody>
      </p:sp>
      <p:sp>
        <p:nvSpPr>
          <p:cNvPr id="48" name="Text 22"/>
          <p:cNvSpPr/>
          <p:nvPr/>
        </p:nvSpPr>
        <p:spPr>
          <a:xfrm>
            <a:off x="6515100" y="582930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Contiene disposiciones sobre protección de datos, pero no constituye marco integral.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333500"/>
            <a:ext cx="114300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71625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16573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429000"/>
            <a:ext cx="5619750" cy="990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5433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64807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3429000"/>
            <a:ext cx="561975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550" y="35433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36480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10100"/>
            <a:ext cx="561975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724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8" y="4829175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4610100"/>
            <a:ext cx="561975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550" y="47244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8425" y="482917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753100"/>
            <a:ext cx="11430000" cy="419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285750"/>
            <a:ext cx="63574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Ciberdelincuencia en Guatemala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00150" y="1524000"/>
            <a:ext cx="780561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Prevención y Protección contra la Ciberdelincuencia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200150" y="1828800"/>
            <a:ext cx="78056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Número 39-2022, aprobada el 4 de agosto de 2022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381000" y="25146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que tipifica y sanciona conductas ilícitas cometidas a través de medios informáticos o que atentan contra sistemas y datos.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381000" y="3009900"/>
            <a:ext cx="1371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Delitos tipificados en la legislación guatemalteca:</a:t>
            </a:r>
            <a:endParaRPr lang="en-US" sz="1800" dirty="0"/>
          </a:p>
        </p:txBody>
      </p:sp>
      <p:sp>
        <p:nvSpPr>
          <p:cNvPr id="27" name="Text 6"/>
          <p:cNvSpPr/>
          <p:nvPr/>
        </p:nvSpPr>
        <p:spPr>
          <a:xfrm>
            <a:off x="1123950" y="35433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Ilícito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1123950" y="38481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no autorizado a sistemas informáticos con fines de obtener información o causar daño.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934200" y="35433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 Ilícita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6934200" y="38481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no autorizada de datos transmitidos por medios electrónicos para obtener información privilegiada.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1123950" y="47244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Informático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1123950" y="50292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Manipulación de datos o identidad electrónica con fines de engañar y obtener beneficios económicos.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934200" y="47244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Pornografía Infantil por Medios Cibernéticos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6934200" y="50292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Producción, distribución y posesión de material ilegal relacionado con menores.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495300" y="5867400"/>
            <a:ext cx="13441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Congreso de la República de Guatemala (2022a). Decreto Número 39-2022, Ley de Prevención y Protección contra la Ciberdelincuencia.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257300"/>
            <a:ext cx="5619750" cy="529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3675" y="148590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0363" y="1676400"/>
            <a:ext cx="42862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99085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30861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590925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686175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1910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42862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791075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463" y="4886325"/>
            <a:ext cx="104775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76950" y="2000250"/>
            <a:ext cx="38100" cy="3810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7450" y="1257300"/>
            <a:ext cx="5619750" cy="529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6325" y="1485900"/>
            <a:ext cx="762000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63013" y="1676400"/>
            <a:ext cx="428625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6050" y="29908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3086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3590925"/>
            <a:ext cx="3429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00825" y="368617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4191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91300" y="4286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4905375"/>
            <a:ext cx="342900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15113" y="5000625"/>
            <a:ext cx="104775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95250"/>
            <a:ext cx="777686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Diferencias entre Informática Jurídica y Derecho Informático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8234065" y="209550"/>
            <a:ext cx="350073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7145" y="2400300"/>
            <a:ext cx="61950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1019175" y="2933700"/>
            <a:ext cx="38426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auxiliar del Derecho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019175" y="3162300"/>
            <a:ext cx="38426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 tecnología para optimizar el trabajo legal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019175" y="3533775"/>
            <a:ext cx="37614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técnico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019175" y="3762375"/>
            <a:ext cx="45137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eficiencia en la gestión del conocimiento legal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019175" y="4133850"/>
            <a:ext cx="33206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estudio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1019175" y="4362450"/>
            <a:ext cx="39847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Acceso, gestión y análisis de información jurídica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1019175" y="4733925"/>
            <a:ext cx="41664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fundamental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1019175" y="4962525"/>
            <a:ext cx="49997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"¿Cómo puede la computadora ayudar al abogado o al juez?"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5979795" y="2400300"/>
            <a:ext cx="61950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 Informático</a:t>
            </a:r>
            <a:endParaRPr lang="en-US" sz="1800" dirty="0"/>
          </a:p>
        </p:txBody>
      </p:sp>
      <p:sp>
        <p:nvSpPr>
          <p:cNvPr id="40" name="Text 12"/>
          <p:cNvSpPr/>
          <p:nvPr/>
        </p:nvSpPr>
        <p:spPr>
          <a:xfrm>
            <a:off x="6981825" y="2933700"/>
            <a:ext cx="44223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autónoma del Derecho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6981825" y="3162300"/>
            <a:ext cx="44223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las conductas y relaciones en el entorno digital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6981825" y="3533775"/>
            <a:ext cx="37193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normativo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981825" y="3762375"/>
            <a:ext cx="44632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 derechos y obligaciones en el entorno digital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981825" y="4133850"/>
            <a:ext cx="36693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estudio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981825" y="4362450"/>
            <a:ext cx="36693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Fenómeno informático y sus efectos jurídicos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6981825" y="4733925"/>
            <a:ext cx="46767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fundamental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981825" y="4962525"/>
            <a:ext cx="4676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"¿Cómo debe regular la ley el uso de las computadoras y el internet?"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333500"/>
            <a:ext cx="3682901" cy="1924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4859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57162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1333500"/>
            <a:ext cx="3683050" cy="1924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6801" y="14859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051" y="1571625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333500"/>
            <a:ext cx="3682901" cy="1924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0350" y="14859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4175" y="15716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486150"/>
            <a:ext cx="11430000" cy="14668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363855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3724275"/>
            <a:ext cx="2286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85750"/>
            <a:ext cx="697319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del Derecho Informático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162050" y="1647825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Estudio Propio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533400" y="2190750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enfoca en el "fenómeno informático", hechos y relaciones sociales únicas del entorno digital (volatilidad de evidencia, transnacionalidad, etc.)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035451" y="1647825"/>
            <a:ext cx="20197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Propios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4406801" y="2190750"/>
            <a:ext cx="33782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desarrollado principios específicos como la neutralidad tecnológica, equivalencia funcional entre documentos físicos y electrónicos, y la libertad informática.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909000" y="1647825"/>
            <a:ext cx="2820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Legislación Especializada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280350" y="2190750"/>
            <a:ext cx="33781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nivel mundial y en Guatemala, se ha promulgado leyes específicas para regular el entorno digital, como leyes de firma electrónica, ciberdelincuencia y protección de datos.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1162050" y="3800475"/>
            <a:ext cx="35441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Evolutiva y Dinámica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533400" y="434340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considera una rama autónoma que abarca normas, jurisprudencia y doctrinas específicas, adaptándose a los cambios tecnológicos. Cuando la libertad informática recibe rango constitucional, se manifiesta la autonomía del Derecho Informático.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381000" y="5105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Universidad de San Carlos de Guatemala, 2025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247900"/>
            <a:ext cx="55245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4384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3" y="257175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247900"/>
            <a:ext cx="5524500" cy="1409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4384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25717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8620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0767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421005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88620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0767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42100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600700"/>
            <a:ext cx="11277600" cy="914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85750"/>
            <a:ext cx="468897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Resistencias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457200" y="14097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que "detractores" que nieguen la existencia o validez de los conceptos, lo que ha existido es una resistencia o lentitud en su adopción y desarrollo debido a la escasa importancia dada a la materia.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371600" y="243840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Voluntad Política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1371600" y="27813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una voluntad política para implementar reformas legales ha retrasado la adopción de marcos normativos adecuados para regular las tecnologías informáticas.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124700" y="243840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del Sistema Jurídico Tradicional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7124700" y="27813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jurídico ha mostrado resistencia a adaptarse a los rápidos cambios tecnológicos, prefiriendo aplicar normas existentes por analogía en lugar de crear disciplinas específicas.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1371600" y="40767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 Legislativo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1371600" y="44196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 fue señalada por no contar con un marco legal apropiado para enfrentar los ciberdelitos y por no adherirse a convenios internacionales clave como el Convenio de Budapest.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124700" y="40767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Teoría vs. Práctica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7124700" y="44196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transición de ver el Derecho Informático como una materia teórica a una rama reguladora y práctica ha sido, y en parte sigue siendo, el principal desafío.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647700" y="5791200"/>
            <a:ext cx="1089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principal obstáculo no ha sido una oposición doctrinal formal, sino una falta de voluntad política y una inercia en el sistema jurídico para adaptarse a la 'revolución de la modernidad' que la inteligencia artificial y la informática representan."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09700"/>
            <a:ext cx="5410200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76400"/>
            <a:ext cx="1714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409700"/>
            <a:ext cx="5410200" cy="499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67640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171700"/>
            <a:ext cx="49530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5600" y="2362200"/>
            <a:ext cx="17145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3429000"/>
            <a:ext cx="495300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36195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4686300"/>
            <a:ext cx="49530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4876800"/>
            <a:ext cx="190500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285750"/>
            <a:ext cx="602146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 en Guatemala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971550" y="1638300"/>
            <a:ext cx="5943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Legislativos Recientes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971550" y="21717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para el Reconocimiento de las Comunicaciones y Firmas Electrónicas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971550" y="2705100"/>
            <a:ext cx="4667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47-2008 que dio validez a las comunicaciones, transacciones y actos jurídicos realizados por medios electrónicos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971550" y="36195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Prevención y Protección contra la Ciberdelincuencia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971550" y="41529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39-2022 que tipifica delitos como acceso ilícito, interceptación ilícita, fraude informático y pornografía infantil por medios cibernéticos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971550" y="529590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Acceso a la Información Pública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971550" y="5562600"/>
            <a:ext cx="4667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57-2008 que contiene disposiciones relevantes para la protección de datos personales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896100" y="1638300"/>
            <a:ext cx="5943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Persistente</a:t>
            </a:r>
            <a:endParaRPr lang="en-US" sz="1800" dirty="0"/>
          </a:p>
        </p:txBody>
      </p:sp>
      <p:sp>
        <p:nvSpPr>
          <p:cNvPr id="25" name="Text 10"/>
          <p:cNvSpPr/>
          <p:nvPr/>
        </p:nvSpPr>
        <p:spPr>
          <a:xfrm>
            <a:off x="6991350" y="2324100"/>
            <a:ext cx="5577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Ley Integral de Protección de Datos</a:t>
            </a:r>
            <a:endParaRPr lang="en-US" sz="1500" dirty="0"/>
          </a:p>
        </p:txBody>
      </p:sp>
      <p:sp>
        <p:nvSpPr>
          <p:cNvPr id="26" name="Text 11"/>
          <p:cNvSpPr/>
          <p:nvPr/>
        </p:nvSpPr>
        <p:spPr>
          <a:xfrm>
            <a:off x="6705600" y="25908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existen iniciativas como la 4090 y la 6103, aún se carece de una ley integral específica para la protección de datos personales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7010400" y="3581400"/>
            <a:ext cx="5577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en el Marco Legal</a:t>
            </a:r>
            <a:endParaRPr lang="en-US" sz="1500" dirty="0"/>
          </a:p>
        </p:txBody>
      </p:sp>
      <p:sp>
        <p:nvSpPr>
          <p:cNvPr id="28" name="Text 13"/>
          <p:cNvSpPr/>
          <p:nvPr/>
        </p:nvSpPr>
        <p:spPr>
          <a:xfrm>
            <a:off x="6705600" y="38481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legal guatemalteco ha sido criticado por su desarrollo incipiente y su falta de adecuación a los estándares internacionales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7010400" y="4838700"/>
            <a:ext cx="5577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Actualización Continua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6705600" y="51054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rapidísima evolución tecnológica requiere de un marco normativo que se actualice constantemente para mantenerse al día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57450"/>
            <a:ext cx="55245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6479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27813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457450"/>
            <a:ext cx="5524500" cy="1409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6479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7813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9575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2862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44196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09575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2862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4419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810250"/>
            <a:ext cx="11277600" cy="990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85750"/>
            <a:ext cx="26980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299871" y="342900"/>
            <a:ext cx="5321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1. UNIDAD 2. DERECHO INFORMÁTICO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457200" y="1409700"/>
            <a:ext cx="112776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interrelación entre el Derecho y la informática ha reconfigurado el panorama jurídico, dando origen a dos campos de estudio distintos pero complementarios.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1371600" y="264795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del Derecho Informático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1371600" y="299085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Derecho Informático ha emergido como una rama jurídica con creciente reconocimiento de su autonomía, con objeto de estudio y principios propios.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124700" y="264795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Jurídica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7124700" y="299085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 consolidado como una ciencia auxiliar indispensable para la modernización y eficiencia de la práctica legal y la administración de justicia.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1371600" y="428625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Legislativos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1371600" y="462915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 necesita una legislación integral para el entorno digital, como lo son la protección de datos personales y la prevención de la ciberdelincuencia.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124700" y="428625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Digital Seguro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7124700" y="462915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consolidación del Derecho Informático es una necesidad imperante para garantizar la seguridad jurídica y fomentar un desarrollo digital seguro y equitativo.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685800" y="6038850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distinción entre la falta de previsión en ciberseguridad y el delito consumado se vuelve crucial. La ausencia de una cultura de prevención puede acarrear consecuencias legales."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3055</Words>
  <Application>Microsoft Office PowerPoint</Application>
  <PresentationFormat>Panorámica</PresentationFormat>
  <Paragraphs>284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ui-sans-serif</vt:lpstr>
      <vt:lpstr>ui-serif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carla cuellar</cp:lastModifiedBy>
  <cp:revision>1</cp:revision>
  <dcterms:created xsi:type="dcterms:W3CDTF">2026-01-28T22:48:03Z</dcterms:created>
  <dcterms:modified xsi:type="dcterms:W3CDTF">2026-01-28T22:56:20Z</dcterms:modified>
</cp:coreProperties>
</file>