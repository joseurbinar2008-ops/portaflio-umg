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0" y="1428750"/>
            <a:ext cx="114300" cy="1143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0" y="2381250"/>
            <a:ext cx="114300" cy="1143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3810000"/>
            <a:ext cx="114300" cy="1143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0" y="3333750"/>
            <a:ext cx="114300" cy="1143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0" y="4762500"/>
            <a:ext cx="114300" cy="1143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0" y="1905000"/>
            <a:ext cx="114300" cy="1143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2500" y="5715000"/>
            <a:ext cx="114300" cy="1143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25000" y="4286250"/>
            <a:ext cx="114300" cy="1143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12185" y="1486225"/>
            <a:ext cx="1845019" cy="511451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17185" y="1994979"/>
            <a:ext cx="1661011" cy="462146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60496" y="3867295"/>
            <a:ext cx="2348381" cy="43226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19888" y="3392176"/>
            <a:ext cx="999392" cy="587998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66320" y="4570639"/>
            <a:ext cx="2848287" cy="268025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73125" y="1963042"/>
            <a:ext cx="1734567" cy="822353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3925788" y="1543050"/>
            <a:ext cx="52083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spc="48" kern="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UNIVERSIDAD MARIANO GALVEZ</a:t>
            </a:r>
            <a:endParaRPr lang="en-US" sz="1800" dirty="0"/>
          </a:p>
        </p:txBody>
      </p:sp>
      <p:sp>
        <p:nvSpPr>
          <p:cNvPr id="19" name="Text 1"/>
          <p:cNvSpPr/>
          <p:nvPr/>
        </p:nvSpPr>
        <p:spPr>
          <a:xfrm>
            <a:off x="4207371" y="2076450"/>
            <a:ext cx="45325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FACULTAD DE INGENIERÍA EN SISTEMAS</a:t>
            </a:r>
            <a:endParaRPr lang="en-US" sz="1500" dirty="0"/>
          </a:p>
        </p:txBody>
      </p:sp>
      <p:sp>
        <p:nvSpPr>
          <p:cNvPr id="20" name="Text 2"/>
          <p:cNvSpPr/>
          <p:nvPr/>
        </p:nvSpPr>
        <p:spPr>
          <a:xfrm>
            <a:off x="609600" y="2552700"/>
            <a:ext cx="10972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2E7D3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Internet y Derecho Informático en Guatemala</a:t>
            </a:r>
            <a:endParaRPr lang="en-US" sz="4500" dirty="0"/>
          </a:p>
        </p:txBody>
      </p:sp>
      <p:sp>
        <p:nvSpPr>
          <p:cNvPr id="21" name="Text 3"/>
          <p:cNvSpPr/>
          <p:nvPr/>
        </p:nvSpPr>
        <p:spPr>
          <a:xfrm>
            <a:off x="2667000" y="3924300"/>
            <a:ext cx="685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DERECHO INFORMÁTICO</a:t>
            </a:r>
            <a:endParaRPr lang="en-US" sz="1800" dirty="0"/>
          </a:p>
        </p:txBody>
      </p:sp>
      <p:sp>
        <p:nvSpPr>
          <p:cNvPr id="22" name="Text 4"/>
          <p:cNvSpPr/>
          <p:nvPr/>
        </p:nvSpPr>
        <p:spPr>
          <a:xfrm>
            <a:off x="1981200" y="4229100"/>
            <a:ext cx="822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MÓDULO 1. CONCEPTO BÁSICO DE DERECHO INFORMÁTICO</a:t>
            </a:r>
            <a:endParaRPr lang="en-US" sz="1800" dirty="0"/>
          </a:p>
        </p:txBody>
      </p:sp>
      <p:sp>
        <p:nvSpPr>
          <p:cNvPr id="23" name="Text 5"/>
          <p:cNvSpPr/>
          <p:nvPr/>
        </p:nvSpPr>
        <p:spPr>
          <a:xfrm>
            <a:off x="4289524" y="5143500"/>
            <a:ext cx="66972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Derecho</a:t>
            </a:r>
            <a:endParaRPr lang="en-US" sz="1050" dirty="0"/>
          </a:p>
        </p:txBody>
      </p:sp>
      <p:sp>
        <p:nvSpPr>
          <p:cNvPr id="24" name="Text 6"/>
          <p:cNvSpPr/>
          <p:nvPr/>
        </p:nvSpPr>
        <p:spPr>
          <a:xfrm>
            <a:off x="5304830" y="5143500"/>
            <a:ext cx="63543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Internet</a:t>
            </a:r>
            <a:endParaRPr lang="en-US" sz="1050" dirty="0"/>
          </a:p>
        </p:txBody>
      </p:sp>
      <p:sp>
        <p:nvSpPr>
          <p:cNvPr id="25" name="Text 7"/>
          <p:cNvSpPr/>
          <p:nvPr/>
        </p:nvSpPr>
        <p:spPr>
          <a:xfrm>
            <a:off x="6291560" y="5143500"/>
            <a:ext cx="81456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Seguridad</a:t>
            </a:r>
            <a:endParaRPr lang="en-US" sz="1050" dirty="0"/>
          </a:p>
        </p:txBody>
      </p:sp>
      <p:sp>
        <p:nvSpPr>
          <p:cNvPr id="26" name="Text 8"/>
          <p:cNvSpPr/>
          <p:nvPr/>
        </p:nvSpPr>
        <p:spPr>
          <a:xfrm>
            <a:off x="7427565" y="5143500"/>
            <a:ext cx="5697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Justicia</a:t>
            </a:r>
            <a:endParaRPr lang="en-US" sz="1050" dirty="0"/>
          </a:p>
        </p:txBody>
      </p:sp>
      <p:sp>
        <p:nvSpPr>
          <p:cNvPr id="27" name="Text 9"/>
          <p:cNvSpPr/>
          <p:nvPr/>
        </p:nvSpPr>
        <p:spPr>
          <a:xfrm>
            <a:off x="5093390" y="6019800"/>
            <a:ext cx="2005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DRA. CARLA CUELLAR</a:t>
            </a:r>
            <a:endParaRPr lang="en-US" sz="1200" dirty="0"/>
          </a:p>
        </p:txBody>
      </p:sp>
      <p:sp>
        <p:nvSpPr>
          <p:cNvPr id="28" name="Text 10"/>
          <p:cNvSpPr/>
          <p:nvPr/>
        </p:nvSpPr>
        <p:spPr>
          <a:xfrm>
            <a:off x="5260479" y="6248400"/>
            <a:ext cx="16708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57300"/>
            <a:ext cx="5334000" cy="38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150" y="1181100"/>
            <a:ext cx="190500" cy="190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3801" y="1524000"/>
            <a:ext cx="342900" cy="3810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8950" y="1181100"/>
            <a:ext cx="190500" cy="1905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09888" y="1524000"/>
            <a:ext cx="428625" cy="3810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0" y="1181100"/>
            <a:ext cx="190500" cy="1905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1550" y="1524000"/>
            <a:ext cx="342900" cy="3810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3086100"/>
            <a:ext cx="5486400" cy="14478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4600" y="1181100"/>
            <a:ext cx="5486400" cy="24003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93123" y="2590800"/>
            <a:ext cx="285750" cy="3429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36831" y="2590800"/>
            <a:ext cx="285750" cy="3429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30384" y="2590800"/>
            <a:ext cx="361950" cy="3429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4600" y="3771900"/>
            <a:ext cx="5486400" cy="16764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E7D3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 Revolución Digital en Guatemala</a:t>
            </a:r>
            <a:endParaRPr lang="en-US" sz="2700" dirty="0"/>
          </a:p>
        </p:txBody>
      </p:sp>
      <p:sp>
        <p:nvSpPr>
          <p:cNvPr id="18" name="Text 1"/>
          <p:cNvSpPr/>
          <p:nvPr/>
        </p:nvSpPr>
        <p:spPr>
          <a:xfrm>
            <a:off x="508888" y="1981200"/>
            <a:ext cx="1572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 Académica</a:t>
            </a:r>
            <a:endParaRPr lang="en-US" sz="1200" dirty="0"/>
          </a:p>
        </p:txBody>
      </p:sp>
      <p:sp>
        <p:nvSpPr>
          <p:cNvPr id="19" name="Text 2"/>
          <p:cNvSpPr/>
          <p:nvPr/>
        </p:nvSpPr>
        <p:spPr>
          <a:xfrm>
            <a:off x="508888" y="2209800"/>
            <a:ext cx="157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Años 70</a:t>
            </a:r>
            <a:endParaRPr lang="en-US" sz="1050" dirty="0"/>
          </a:p>
        </p:txBody>
      </p:sp>
      <p:sp>
        <p:nvSpPr>
          <p:cNvPr id="20" name="Text 3"/>
          <p:cNvSpPr/>
          <p:nvPr/>
        </p:nvSpPr>
        <p:spPr>
          <a:xfrm>
            <a:off x="2596813" y="1981200"/>
            <a:ext cx="1054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Expansión</a:t>
            </a:r>
            <a:endParaRPr lang="en-US" sz="1200" dirty="0"/>
          </a:p>
        </p:txBody>
      </p:sp>
      <p:sp>
        <p:nvSpPr>
          <p:cNvPr id="21" name="Text 4"/>
          <p:cNvSpPr/>
          <p:nvPr/>
        </p:nvSpPr>
        <p:spPr>
          <a:xfrm>
            <a:off x="2596813" y="2209800"/>
            <a:ext cx="1054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Años 90</a:t>
            </a:r>
            <a:endParaRPr lang="en-US" sz="1050" dirty="0"/>
          </a:p>
        </p:txBody>
      </p:sp>
      <p:sp>
        <p:nvSpPr>
          <p:cNvPr id="22" name="Text 5"/>
          <p:cNvSpPr/>
          <p:nvPr/>
        </p:nvSpPr>
        <p:spPr>
          <a:xfrm>
            <a:off x="4038600" y="1981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Infraestructura Global</a:t>
            </a:r>
            <a:endParaRPr lang="en-US" sz="1200" dirty="0"/>
          </a:p>
        </p:txBody>
      </p:sp>
      <p:sp>
        <p:nvSpPr>
          <p:cNvPr id="23" name="Text 6"/>
          <p:cNvSpPr/>
          <p:nvPr/>
        </p:nvSpPr>
        <p:spPr>
          <a:xfrm>
            <a:off x="4038600" y="2438400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Actualidad</a:t>
            </a:r>
            <a:endParaRPr lang="en-US" sz="1050" dirty="0"/>
          </a:p>
        </p:txBody>
      </p:sp>
      <p:sp>
        <p:nvSpPr>
          <p:cNvPr id="24" name="Text 7"/>
          <p:cNvSpPr/>
          <p:nvPr/>
        </p:nvSpPr>
        <p:spPr>
          <a:xfrm>
            <a:off x="571500" y="3276600"/>
            <a:ext cx="510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Evolución de Internet</a:t>
            </a:r>
            <a:endParaRPr lang="en-US" sz="1500" dirty="0"/>
          </a:p>
        </p:txBody>
      </p:sp>
      <p:sp>
        <p:nvSpPr>
          <p:cNvPr id="25" name="Text 8"/>
          <p:cNvSpPr/>
          <p:nvPr/>
        </p:nvSpPr>
        <p:spPr>
          <a:xfrm>
            <a:off x="571500" y="3657600"/>
            <a:ext cx="5105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Internet ha evolucionado de una red académica y militar a una infraestructura global que redefine la comunicación, el comercio y la interacción social en Guatemala y en el mundo.</a:t>
            </a:r>
            <a:endParaRPr lang="en-US" sz="1200" dirty="0"/>
          </a:p>
        </p:txBody>
      </p:sp>
      <p:sp>
        <p:nvSpPr>
          <p:cNvPr id="26" name="Text 9"/>
          <p:cNvSpPr/>
          <p:nvPr/>
        </p:nvSpPr>
        <p:spPr>
          <a:xfrm>
            <a:off x="6515100" y="1371600"/>
            <a:ext cx="510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Ciberespacio</a:t>
            </a:r>
            <a:endParaRPr lang="en-US" sz="1500" dirty="0"/>
          </a:p>
        </p:txBody>
      </p:sp>
      <p:sp>
        <p:nvSpPr>
          <p:cNvPr id="27" name="Text 10"/>
          <p:cNvSpPr/>
          <p:nvPr/>
        </p:nvSpPr>
        <p:spPr>
          <a:xfrm>
            <a:off x="6515100" y="1752600"/>
            <a:ext cx="5105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Caracterizado por su naturaleza transfronteriza y la ausencia de una autoridad central, lo que genera tanto oportunidades sin precedentes como complejos desafíos jurídicos.</a:t>
            </a:r>
            <a:endParaRPr lang="en-US" sz="1200" dirty="0"/>
          </a:p>
        </p:txBody>
      </p:sp>
      <p:sp>
        <p:nvSpPr>
          <p:cNvPr id="28" name="Text 11"/>
          <p:cNvSpPr/>
          <p:nvPr/>
        </p:nvSpPr>
        <p:spPr>
          <a:xfrm>
            <a:off x="6515100" y="3009900"/>
            <a:ext cx="104179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Protección de</a:t>
            </a:r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
</a:t>
            </a:r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bienes jurídicos</a:t>
            </a:r>
            <a:endParaRPr lang="en-US" sz="1050" dirty="0"/>
          </a:p>
        </p:txBody>
      </p:sp>
      <p:sp>
        <p:nvSpPr>
          <p:cNvPr id="29" name="Text 12"/>
          <p:cNvSpPr/>
          <p:nvPr/>
        </p:nvSpPr>
        <p:spPr>
          <a:xfrm>
            <a:off x="8680549" y="3009900"/>
            <a:ext cx="79831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Intercambio</a:t>
            </a:r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
</a:t>
            </a:r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información</a:t>
            </a:r>
            <a:endParaRPr lang="en-US" sz="1050" dirty="0"/>
          </a:p>
        </p:txBody>
      </p:sp>
      <p:sp>
        <p:nvSpPr>
          <p:cNvPr id="30" name="Text 13"/>
          <p:cNvSpPr/>
          <p:nvPr/>
        </p:nvSpPr>
        <p:spPr>
          <a:xfrm>
            <a:off x="10602516" y="3009900"/>
            <a:ext cx="10178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Equilibrio entre</a:t>
            </a:r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
</a:t>
            </a:r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derechos</a:t>
            </a:r>
            <a:endParaRPr lang="en-US" sz="1050" dirty="0"/>
          </a:p>
        </p:txBody>
      </p:sp>
      <p:sp>
        <p:nvSpPr>
          <p:cNvPr id="31" name="Text 14"/>
          <p:cNvSpPr/>
          <p:nvPr/>
        </p:nvSpPr>
        <p:spPr>
          <a:xfrm>
            <a:off x="6515100" y="3962400"/>
            <a:ext cx="510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Desafíos Jurídicos</a:t>
            </a:r>
            <a:endParaRPr lang="en-US" sz="1500" dirty="0"/>
          </a:p>
        </p:txBody>
      </p:sp>
      <p:sp>
        <p:nvSpPr>
          <p:cNvPr id="32" name="Text 15"/>
          <p:cNvSpPr/>
          <p:nvPr/>
        </p:nvSpPr>
        <p:spPr>
          <a:xfrm>
            <a:off x="6515100" y="4343400"/>
            <a:ext cx="5105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 facilidad para el intercambio de información a escala mundial ha incrementado los riesgos para bienos jurídicos fundamentales como la intimidad, la propiedad intelectual y la seguridad nacional.</a:t>
            </a:r>
            <a:endParaRPr lang="en-US" sz="1200" dirty="0"/>
          </a:p>
        </p:txBody>
      </p:sp>
      <p:sp>
        <p:nvSpPr>
          <p:cNvPr id="33" name="Text 16"/>
          <p:cNvSpPr/>
          <p:nvPr/>
        </p:nvSpPr>
        <p:spPr>
          <a:xfrm>
            <a:off x="381000" y="6286500"/>
            <a:ext cx="25956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UNIVERSIDAD MARIANO GALVEZ</a:t>
            </a:r>
            <a:endParaRPr lang="en-US" sz="1050" dirty="0"/>
          </a:p>
        </p:txBody>
      </p:sp>
      <p:sp>
        <p:nvSpPr>
          <p:cNvPr id="34" name="Text 17"/>
          <p:cNvSpPr/>
          <p:nvPr/>
        </p:nvSpPr>
        <p:spPr>
          <a:xfrm>
            <a:off x="11511409" y="6286500"/>
            <a:ext cx="3595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2/10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04900"/>
            <a:ext cx="3657600" cy="4953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95400"/>
            <a:ext cx="571500" cy="571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1409700"/>
            <a:ext cx="285750" cy="3429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390900"/>
            <a:ext cx="3276600" cy="6096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524250"/>
            <a:ext cx="104775" cy="1333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4923" y="4629150"/>
            <a:ext cx="285750" cy="3048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27498" y="4629150"/>
            <a:ext cx="171450" cy="3048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62350" y="4629150"/>
            <a:ext cx="285750" cy="3048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67200" y="1104900"/>
            <a:ext cx="3657600" cy="49530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57700" y="1295400"/>
            <a:ext cx="467469" cy="5715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48485" y="1409700"/>
            <a:ext cx="285750" cy="3429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48200" y="3333750"/>
            <a:ext cx="152400" cy="1333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53400" y="1104900"/>
            <a:ext cx="3657600" cy="49530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43900" y="1295400"/>
            <a:ext cx="527596" cy="5715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64748" y="1409700"/>
            <a:ext cx="285750" cy="3429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43900" y="2019300"/>
            <a:ext cx="3276600" cy="8763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43900" y="3009900"/>
            <a:ext cx="3276600" cy="8763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43900" y="4038600"/>
            <a:ext cx="3276600" cy="8001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458200" y="4171950"/>
            <a:ext cx="133350" cy="13335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E7D3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Infraestructura Digital Básica</a:t>
            </a:r>
            <a:endParaRPr lang="en-US" sz="2700" dirty="0"/>
          </a:p>
        </p:txBody>
      </p:sp>
      <p:sp>
        <p:nvSpPr>
          <p:cNvPr id="24" name="Text 1"/>
          <p:cNvSpPr/>
          <p:nvPr/>
        </p:nvSpPr>
        <p:spPr>
          <a:xfrm>
            <a:off x="1257300" y="1447800"/>
            <a:ext cx="21458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Internet vs. Web</a:t>
            </a:r>
            <a:endParaRPr lang="en-US" sz="1500" dirty="0"/>
          </a:p>
        </p:txBody>
      </p:sp>
      <p:sp>
        <p:nvSpPr>
          <p:cNvPr id="25" name="Text 2"/>
          <p:cNvSpPr/>
          <p:nvPr/>
        </p:nvSpPr>
        <p:spPr>
          <a:xfrm>
            <a:off x="571500" y="2019300"/>
            <a:ext cx="327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Internet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: Infraestructura global de redes interconectadas.</a:t>
            </a:r>
            <a:endParaRPr lang="en-US" sz="1200" dirty="0"/>
          </a:p>
        </p:txBody>
      </p:sp>
      <p:sp>
        <p:nvSpPr>
          <p:cNvPr id="26" name="Text 3"/>
          <p:cNvSpPr/>
          <p:nvPr/>
        </p:nvSpPr>
        <p:spPr>
          <a:xfrm>
            <a:off x="571500" y="2552700"/>
            <a:ext cx="3276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WWW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: Servicio que corre sobre Internet; sistema de documentos hipertexto accesibles via navegadores.</a:t>
            </a:r>
            <a:endParaRPr lang="en-US" sz="1200" dirty="0"/>
          </a:p>
        </p:txBody>
      </p:sp>
      <p:sp>
        <p:nvSpPr>
          <p:cNvPr id="27" name="Text 4"/>
          <p:cNvSpPr/>
          <p:nvPr/>
        </p:nvSpPr>
        <p:spPr>
          <a:xfrm>
            <a:off x="866775" y="350520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Creada por Tim Berners-Lee en el CERN (1989-1990).</a:t>
            </a:r>
            <a:endParaRPr lang="en-US" sz="1050" dirty="0"/>
          </a:p>
        </p:txBody>
      </p:sp>
      <p:sp>
        <p:nvSpPr>
          <p:cNvPr id="28" name="Text 5"/>
          <p:cNvSpPr/>
          <p:nvPr/>
        </p:nvSpPr>
        <p:spPr>
          <a:xfrm>
            <a:off x="542240" y="4972050"/>
            <a:ext cx="3511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HTTP</a:t>
            </a:r>
            <a:endParaRPr lang="en-US" sz="900" dirty="0"/>
          </a:p>
        </p:txBody>
      </p:sp>
      <p:sp>
        <p:nvSpPr>
          <p:cNvPr id="29" name="Text 6"/>
          <p:cNvSpPr/>
          <p:nvPr/>
        </p:nvSpPr>
        <p:spPr>
          <a:xfrm>
            <a:off x="2022306" y="4972050"/>
            <a:ext cx="3818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HTML</a:t>
            </a:r>
            <a:endParaRPr lang="en-US" sz="900" dirty="0"/>
          </a:p>
        </p:txBody>
      </p:sp>
      <p:sp>
        <p:nvSpPr>
          <p:cNvPr id="30" name="Text 7"/>
          <p:cNvSpPr/>
          <p:nvPr/>
        </p:nvSpPr>
        <p:spPr>
          <a:xfrm>
            <a:off x="3533775" y="4972050"/>
            <a:ext cx="342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URL</a:t>
            </a:r>
            <a:endParaRPr lang="en-US" sz="900" dirty="0"/>
          </a:p>
        </p:txBody>
      </p:sp>
      <p:sp>
        <p:nvSpPr>
          <p:cNvPr id="31" name="Text 8"/>
          <p:cNvSpPr/>
          <p:nvPr/>
        </p:nvSpPr>
        <p:spPr>
          <a:xfrm>
            <a:off x="243840" y="5200650"/>
            <a:ext cx="39319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Protocolos esenciales desarrollados</a:t>
            </a:r>
            <a:endParaRPr lang="en-US" sz="900" dirty="0"/>
          </a:p>
        </p:txBody>
      </p:sp>
      <p:sp>
        <p:nvSpPr>
          <p:cNvPr id="32" name="Text 9"/>
          <p:cNvSpPr/>
          <p:nvPr/>
        </p:nvSpPr>
        <p:spPr>
          <a:xfrm>
            <a:off x="5039469" y="1314450"/>
            <a:ext cx="269483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Historia del Correo Electrónico</a:t>
            </a:r>
            <a:endParaRPr lang="en-US" sz="1500" dirty="0"/>
          </a:p>
        </p:txBody>
      </p:sp>
      <p:sp>
        <p:nvSpPr>
          <p:cNvPr id="33" name="Text 10"/>
          <p:cNvSpPr/>
          <p:nvPr/>
        </p:nvSpPr>
        <p:spPr>
          <a:xfrm>
            <a:off x="4648200" y="2019300"/>
            <a:ext cx="3086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1965</a:t>
            </a:r>
            <a:endParaRPr lang="en-US" sz="1350" dirty="0"/>
          </a:p>
        </p:txBody>
      </p:sp>
      <p:sp>
        <p:nvSpPr>
          <p:cNvPr id="34" name="Text 11"/>
          <p:cNvSpPr/>
          <p:nvPr/>
        </p:nvSpPr>
        <p:spPr>
          <a:xfrm>
            <a:off x="4648200" y="2286000"/>
            <a:ext cx="37033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Surgió en el MIT, anterior a la Web.</a:t>
            </a:r>
            <a:endParaRPr lang="en-US" sz="1050" dirty="0"/>
          </a:p>
        </p:txBody>
      </p:sp>
      <p:sp>
        <p:nvSpPr>
          <p:cNvPr id="35" name="Text 12"/>
          <p:cNvSpPr/>
          <p:nvPr/>
        </p:nvSpPr>
        <p:spPr>
          <a:xfrm>
            <a:off x="4648200" y="2628900"/>
            <a:ext cx="3086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1971</a:t>
            </a:r>
            <a:endParaRPr lang="en-US" sz="1350" dirty="0"/>
          </a:p>
        </p:txBody>
      </p:sp>
      <p:sp>
        <p:nvSpPr>
          <p:cNvPr id="36" name="Text 13"/>
          <p:cNvSpPr/>
          <p:nvPr/>
        </p:nvSpPr>
        <p:spPr>
          <a:xfrm>
            <a:off x="4648200" y="2895600"/>
            <a:ext cx="3086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Ray Tomlinson envió el primer mensaje entre dos computadoras distintas en ARPANET.</a:t>
            </a:r>
            <a:endParaRPr lang="en-US" sz="1050" dirty="0"/>
          </a:p>
        </p:txBody>
      </p:sp>
      <p:sp>
        <p:nvSpPr>
          <p:cNvPr id="37" name="Text 14"/>
          <p:cNvSpPr/>
          <p:nvPr/>
        </p:nvSpPr>
        <p:spPr>
          <a:xfrm>
            <a:off x="4838700" y="3314700"/>
            <a:ext cx="37033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Innovación: uso del símbolo '@'.</a:t>
            </a:r>
            <a:endParaRPr lang="en-US" sz="1050" dirty="0"/>
          </a:p>
        </p:txBody>
      </p:sp>
      <p:sp>
        <p:nvSpPr>
          <p:cNvPr id="38" name="Text 15"/>
          <p:cNvSpPr/>
          <p:nvPr/>
        </p:nvSpPr>
        <p:spPr>
          <a:xfrm>
            <a:off x="4648200" y="3657600"/>
            <a:ext cx="3086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Años 90</a:t>
            </a:r>
            <a:endParaRPr lang="en-US" sz="1350" dirty="0"/>
          </a:p>
        </p:txBody>
      </p:sp>
      <p:sp>
        <p:nvSpPr>
          <p:cNvPr id="39" name="Text 16"/>
          <p:cNvSpPr/>
          <p:nvPr/>
        </p:nvSpPr>
        <p:spPr>
          <a:xfrm>
            <a:off x="4648200" y="3924300"/>
            <a:ext cx="3086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 masificó con servicios web gratuitos como Hotmail.</a:t>
            </a:r>
            <a:endParaRPr lang="en-US" sz="1050" dirty="0"/>
          </a:p>
        </p:txBody>
      </p:sp>
      <p:sp>
        <p:nvSpPr>
          <p:cNvPr id="40" name="Text 17"/>
          <p:cNvSpPr/>
          <p:nvPr/>
        </p:nvSpPr>
        <p:spPr>
          <a:xfrm>
            <a:off x="4648200" y="4457700"/>
            <a:ext cx="3086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Actualidad</a:t>
            </a:r>
            <a:endParaRPr lang="en-US" sz="1350" dirty="0"/>
          </a:p>
        </p:txBody>
      </p:sp>
      <p:sp>
        <p:nvSpPr>
          <p:cNvPr id="41" name="Text 18"/>
          <p:cNvSpPr/>
          <p:nvPr/>
        </p:nvSpPr>
        <p:spPr>
          <a:xfrm>
            <a:off x="4648200" y="4724400"/>
            <a:ext cx="37033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Protocolos estándar: SMTP, POP3 e IMAP.</a:t>
            </a:r>
            <a:endParaRPr lang="en-US" sz="1050" dirty="0"/>
          </a:p>
        </p:txBody>
      </p:sp>
      <p:sp>
        <p:nvSpPr>
          <p:cNvPr id="42" name="Text 19"/>
          <p:cNvSpPr/>
          <p:nvPr/>
        </p:nvSpPr>
        <p:spPr>
          <a:xfrm>
            <a:off x="8985796" y="1314450"/>
            <a:ext cx="263470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Protocolos Fundamentales</a:t>
            </a:r>
            <a:endParaRPr lang="en-US" sz="1500" dirty="0"/>
          </a:p>
        </p:txBody>
      </p:sp>
      <p:sp>
        <p:nvSpPr>
          <p:cNvPr id="43" name="Text 20"/>
          <p:cNvSpPr/>
          <p:nvPr/>
        </p:nvSpPr>
        <p:spPr>
          <a:xfrm>
            <a:off x="8458200" y="2133600"/>
            <a:ext cx="3657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Correo Electrónico</a:t>
            </a:r>
            <a:endParaRPr lang="en-US" sz="1350" dirty="0"/>
          </a:p>
        </p:txBody>
      </p:sp>
      <p:sp>
        <p:nvSpPr>
          <p:cNvPr id="44" name="Text 21"/>
          <p:cNvSpPr/>
          <p:nvPr/>
        </p:nvSpPr>
        <p:spPr>
          <a:xfrm>
            <a:off x="8458200" y="240030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SMTP (envío), POP3 (recepción), IMAP (sincronización).</a:t>
            </a:r>
            <a:endParaRPr lang="en-US" sz="1050" dirty="0"/>
          </a:p>
        </p:txBody>
      </p:sp>
      <p:sp>
        <p:nvSpPr>
          <p:cNvPr id="45" name="Text 22"/>
          <p:cNvSpPr/>
          <p:nvPr/>
        </p:nvSpPr>
        <p:spPr>
          <a:xfrm>
            <a:off x="8458200" y="3124200"/>
            <a:ext cx="3048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Web</a:t>
            </a:r>
            <a:endParaRPr lang="en-US" sz="1350" dirty="0"/>
          </a:p>
        </p:txBody>
      </p:sp>
      <p:sp>
        <p:nvSpPr>
          <p:cNvPr id="46" name="Text 23"/>
          <p:cNvSpPr/>
          <p:nvPr/>
        </p:nvSpPr>
        <p:spPr>
          <a:xfrm>
            <a:off x="8458200" y="339090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HTTP (hipertexto), HTTPS (seguro), URL (direcciones).</a:t>
            </a:r>
            <a:endParaRPr lang="en-US" sz="1050" dirty="0"/>
          </a:p>
        </p:txBody>
      </p:sp>
      <p:sp>
        <p:nvSpPr>
          <p:cNvPr id="47" name="Text 24"/>
          <p:cNvSpPr/>
          <p:nvPr/>
        </p:nvSpPr>
        <p:spPr>
          <a:xfrm>
            <a:off x="8667750" y="4152900"/>
            <a:ext cx="304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Estos protocolos son la base sobre la cual se construyen las interacciones digitales en Guatemala.</a:t>
            </a:r>
            <a:endParaRPr lang="en-US" sz="1050" dirty="0"/>
          </a:p>
        </p:txBody>
      </p:sp>
      <p:sp>
        <p:nvSpPr>
          <p:cNvPr id="48" name="Text 25"/>
          <p:cNvSpPr/>
          <p:nvPr/>
        </p:nvSpPr>
        <p:spPr>
          <a:xfrm>
            <a:off x="381000" y="6286500"/>
            <a:ext cx="25956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UNIVERSIDAD MARIANO GALVEZ</a:t>
            </a:r>
            <a:endParaRPr lang="en-US" sz="1050" dirty="0"/>
          </a:p>
        </p:txBody>
      </p:sp>
      <p:sp>
        <p:nvSpPr>
          <p:cNvPr id="49" name="Text 26"/>
          <p:cNvSpPr/>
          <p:nvPr/>
        </p:nvSpPr>
        <p:spPr>
          <a:xfrm>
            <a:off x="11511409" y="6286500"/>
            <a:ext cx="3595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3/10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04900"/>
            <a:ext cx="5600700" cy="4953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676400"/>
            <a:ext cx="5219700" cy="38862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695950"/>
            <a:ext cx="114300" cy="1143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4933" y="5695950"/>
            <a:ext cx="114300" cy="1143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0300" y="1104900"/>
            <a:ext cx="5600700" cy="9906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1295400"/>
            <a:ext cx="609600" cy="6096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2725" y="1428750"/>
            <a:ext cx="285750" cy="3429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0300" y="2247900"/>
            <a:ext cx="5600700" cy="9906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2438400"/>
            <a:ext cx="609600" cy="6096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96063" y="2571750"/>
            <a:ext cx="219075" cy="3429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0300" y="3390900"/>
            <a:ext cx="5600700" cy="11049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3638550"/>
            <a:ext cx="570607" cy="6096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43229" y="3771900"/>
            <a:ext cx="285750" cy="3429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E7D3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Crecimiento del Comercio Electrónico</a:t>
            </a:r>
            <a:endParaRPr lang="en-US" sz="2700" dirty="0"/>
          </a:p>
        </p:txBody>
      </p:sp>
      <p:sp>
        <p:nvSpPr>
          <p:cNvPr id="18" name="Text 1"/>
          <p:cNvSpPr/>
          <p:nvPr/>
        </p:nvSpPr>
        <p:spPr>
          <a:xfrm>
            <a:off x="571500" y="1295400"/>
            <a:ext cx="6263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Ventas Online en 2024 vs Proyección 2027</a:t>
            </a:r>
            <a:endParaRPr lang="en-US" sz="1500" dirty="0"/>
          </a:p>
        </p:txBody>
      </p:sp>
      <p:sp>
        <p:nvSpPr>
          <p:cNvPr id="19" name="Text 2"/>
          <p:cNvSpPr/>
          <p:nvPr/>
        </p:nvSpPr>
        <p:spPr>
          <a:xfrm>
            <a:off x="587261" y="5695950"/>
            <a:ext cx="16914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2024: 2,700 millones</a:t>
            </a:r>
            <a:endParaRPr lang="en-US" sz="1050" dirty="0"/>
          </a:p>
        </p:txBody>
      </p:sp>
      <p:sp>
        <p:nvSpPr>
          <p:cNvPr id="20" name="Text 3"/>
          <p:cNvSpPr/>
          <p:nvPr/>
        </p:nvSpPr>
        <p:spPr>
          <a:xfrm>
            <a:off x="4240694" y="5695950"/>
            <a:ext cx="16914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2027: 5,000 millones</a:t>
            </a:r>
            <a:endParaRPr lang="en-US" sz="1050" dirty="0"/>
          </a:p>
        </p:txBody>
      </p:sp>
      <p:sp>
        <p:nvSpPr>
          <p:cNvPr id="21" name="Text 4"/>
          <p:cNvSpPr/>
          <p:nvPr/>
        </p:nvSpPr>
        <p:spPr>
          <a:xfrm>
            <a:off x="7162800" y="1352550"/>
            <a:ext cx="34423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Aumento del 80%</a:t>
            </a:r>
            <a:endParaRPr lang="en-US" sz="1500" dirty="0"/>
          </a:p>
        </p:txBody>
      </p:sp>
      <p:sp>
        <p:nvSpPr>
          <p:cNvPr id="22" name="Text 5"/>
          <p:cNvSpPr/>
          <p:nvPr/>
        </p:nvSpPr>
        <p:spPr>
          <a:xfrm>
            <a:off x="7162800" y="1619250"/>
            <a:ext cx="34423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Solo en el primer año de la pandemia</a:t>
            </a:r>
            <a:endParaRPr lang="en-US" sz="1200" dirty="0"/>
          </a:p>
        </p:txBody>
      </p:sp>
      <p:sp>
        <p:nvSpPr>
          <p:cNvPr id="23" name="Text 6"/>
          <p:cNvSpPr/>
          <p:nvPr/>
        </p:nvSpPr>
        <p:spPr>
          <a:xfrm>
            <a:off x="7162800" y="2495550"/>
            <a:ext cx="35229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80% del volumen</a:t>
            </a:r>
            <a:endParaRPr lang="en-US" sz="1500" dirty="0"/>
          </a:p>
        </p:txBody>
      </p:sp>
      <p:sp>
        <p:nvSpPr>
          <p:cNvPr id="24" name="Text 7"/>
          <p:cNvSpPr/>
          <p:nvPr/>
        </p:nvSpPr>
        <p:spPr>
          <a:xfrm>
            <a:off x="7162800" y="2762250"/>
            <a:ext cx="3522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Generado por comercio móvil en 2024</a:t>
            </a:r>
            <a:endParaRPr lang="en-US" sz="1200" dirty="0"/>
          </a:p>
        </p:txBody>
      </p:sp>
      <p:sp>
        <p:nvSpPr>
          <p:cNvPr id="25" name="Text 8"/>
          <p:cNvSpPr/>
          <p:nvPr/>
        </p:nvSpPr>
        <p:spPr>
          <a:xfrm>
            <a:off x="7123807" y="3581400"/>
            <a:ext cx="44966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68% de las ventas</a:t>
            </a:r>
            <a:endParaRPr lang="en-US" sz="1500" dirty="0"/>
          </a:p>
        </p:txBody>
      </p:sp>
      <p:sp>
        <p:nvSpPr>
          <p:cNvPr id="26" name="Text 9"/>
          <p:cNvSpPr/>
          <p:nvPr/>
        </p:nvSpPr>
        <p:spPr>
          <a:xfrm>
            <a:off x="7123807" y="3848100"/>
            <a:ext cx="44966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 tiendas internacionales con crecimiento del 20% para 2025</a:t>
            </a:r>
            <a:endParaRPr lang="en-US" sz="1200" dirty="0"/>
          </a:p>
        </p:txBody>
      </p:sp>
      <p:sp>
        <p:nvSpPr>
          <p:cNvPr id="27" name="Text 10"/>
          <p:cNvSpPr/>
          <p:nvPr/>
        </p:nvSpPr>
        <p:spPr>
          <a:xfrm>
            <a:off x="381000" y="6286500"/>
            <a:ext cx="25956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UNIVERSIDAD MARIANO GALVEZ</a:t>
            </a:r>
            <a:endParaRPr lang="en-US" sz="1050" dirty="0"/>
          </a:p>
        </p:txBody>
      </p:sp>
      <p:sp>
        <p:nvSpPr>
          <p:cNvPr id="28" name="Text 11"/>
          <p:cNvSpPr/>
          <p:nvPr/>
        </p:nvSpPr>
        <p:spPr>
          <a:xfrm>
            <a:off x="11511409" y="6286500"/>
            <a:ext cx="3595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4/10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9723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04900"/>
            <a:ext cx="5600700" cy="46482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104900"/>
            <a:ext cx="5600700" cy="6477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1257300"/>
            <a:ext cx="361950" cy="3429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14800"/>
            <a:ext cx="190500" cy="2667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295900"/>
            <a:ext cx="142875" cy="2667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1104900"/>
            <a:ext cx="5600700" cy="46482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0300" y="1104900"/>
            <a:ext cx="5600700" cy="6477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62700" y="1257300"/>
            <a:ext cx="285750" cy="3429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3276600"/>
            <a:ext cx="171450" cy="1524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67800" y="3276600"/>
            <a:ext cx="171450" cy="1524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41529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67800" y="41529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4895850"/>
            <a:ext cx="142875" cy="2667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5295900"/>
            <a:ext cx="142875" cy="2667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1000" y="5981700"/>
            <a:ext cx="914400" cy="6096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E7D3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Marco Legal del E-commerce</a:t>
            </a:r>
            <a:endParaRPr lang="en-US" sz="2700" dirty="0"/>
          </a:p>
        </p:txBody>
      </p:sp>
      <p:sp>
        <p:nvSpPr>
          <p:cNvPr id="20" name="Text 1"/>
          <p:cNvSpPr/>
          <p:nvPr/>
        </p:nvSpPr>
        <p:spPr>
          <a:xfrm>
            <a:off x="1009650" y="1276350"/>
            <a:ext cx="257192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Decreto 47-2008</a:t>
            </a:r>
            <a:endParaRPr lang="en-US" sz="1800" dirty="0"/>
          </a:p>
        </p:txBody>
      </p:sp>
      <p:sp>
        <p:nvSpPr>
          <p:cNvPr id="21" name="Text 2"/>
          <p:cNvSpPr/>
          <p:nvPr/>
        </p:nvSpPr>
        <p:spPr>
          <a:xfrm>
            <a:off x="571500" y="1943100"/>
            <a:ext cx="5219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Ley para el Reconocimiento de las Comunicaciones y Firmas Electrónicas</a:t>
            </a:r>
            <a:endParaRPr lang="en-US" sz="1500" dirty="0"/>
          </a:p>
        </p:txBody>
      </p:sp>
      <p:sp>
        <p:nvSpPr>
          <p:cNvPr id="22" name="Text 3"/>
          <p:cNvSpPr/>
          <p:nvPr/>
        </p:nvSpPr>
        <p:spPr>
          <a:xfrm>
            <a:off x="571500" y="2552700"/>
            <a:ext cx="5219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Ley fundamental que otorga validez jurídica a las transacciones y comunicaciones realizadas por medios electrónicos.</a:t>
            </a:r>
            <a:endParaRPr lang="en-US" sz="1200" dirty="0"/>
          </a:p>
        </p:txBody>
      </p:sp>
      <p:sp>
        <p:nvSpPr>
          <p:cNvPr id="23" name="Text 4"/>
          <p:cNvSpPr/>
          <p:nvPr/>
        </p:nvSpPr>
        <p:spPr>
          <a:xfrm>
            <a:off x="571500" y="3276600"/>
            <a:ext cx="5219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98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Artículo 1: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Establece su amplia aplicabilidad a "todo tipo de comunicación electrónica, transacción o acto jurídico, público o privado, nacional o internacional".</a:t>
            </a:r>
            <a:endParaRPr lang="en-US" sz="1200" dirty="0"/>
          </a:p>
        </p:txBody>
      </p:sp>
      <p:sp>
        <p:nvSpPr>
          <p:cNvPr id="24" name="Text 5"/>
          <p:cNvSpPr/>
          <p:nvPr/>
        </p:nvSpPr>
        <p:spPr>
          <a:xfrm>
            <a:off x="838200" y="4133850"/>
            <a:ext cx="50951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Equivalencia entre firma electrónica y firma manuscrita</a:t>
            </a:r>
            <a:endParaRPr lang="en-US" sz="1200" dirty="0"/>
          </a:p>
        </p:txBody>
      </p:sp>
      <p:sp>
        <p:nvSpPr>
          <p:cNvPr id="25" name="Text 6"/>
          <p:cNvSpPr/>
          <p:nvPr/>
        </p:nvSpPr>
        <p:spPr>
          <a:xfrm>
            <a:off x="790575" y="5334000"/>
            <a:ext cx="17128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Fuente: RPSC Gob GT</a:t>
            </a:r>
            <a:endParaRPr lang="en-US" sz="1050" dirty="0"/>
          </a:p>
        </p:txBody>
      </p:sp>
      <p:sp>
        <p:nvSpPr>
          <p:cNvPr id="26" name="Text 7"/>
          <p:cNvSpPr/>
          <p:nvPr/>
        </p:nvSpPr>
        <p:spPr>
          <a:xfrm>
            <a:off x="6762750" y="1276350"/>
            <a:ext cx="228135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Iniciativa 6029</a:t>
            </a:r>
            <a:endParaRPr lang="en-US" sz="1800" dirty="0"/>
          </a:p>
        </p:txBody>
      </p:sp>
      <p:sp>
        <p:nvSpPr>
          <p:cNvPr id="27" name="Text 8"/>
          <p:cNvSpPr/>
          <p:nvPr/>
        </p:nvSpPr>
        <p:spPr>
          <a:xfrm>
            <a:off x="6400800" y="1943100"/>
            <a:ext cx="6263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Ley de Comercio Electrónico Transfronterizo</a:t>
            </a:r>
            <a:endParaRPr lang="en-US" sz="1500" dirty="0"/>
          </a:p>
        </p:txBody>
      </p:sp>
      <p:sp>
        <p:nvSpPr>
          <p:cNvPr id="28" name="Text 9"/>
          <p:cNvSpPr/>
          <p:nvPr/>
        </p:nvSpPr>
        <p:spPr>
          <a:xfrm>
            <a:off x="6400800" y="2286000"/>
            <a:ext cx="5219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Iniciativa con dictamen favorable que busca modernizar la legislación para facilitar que las PYMES guatemaltecas exporten sus productos a través de plataformas digitales.</a:t>
            </a:r>
            <a:endParaRPr lang="en-US" sz="1200" dirty="0"/>
          </a:p>
        </p:txBody>
      </p:sp>
      <p:sp>
        <p:nvSpPr>
          <p:cNvPr id="29" name="Text 10"/>
          <p:cNvSpPr/>
          <p:nvPr/>
        </p:nvSpPr>
        <p:spPr>
          <a:xfrm>
            <a:off x="6648450" y="3238500"/>
            <a:ext cx="23050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Reconocer legalmente a los intermediarios electrónicos (marketplaces)</a:t>
            </a:r>
            <a:endParaRPr lang="en-US" sz="1050" dirty="0"/>
          </a:p>
        </p:txBody>
      </p:sp>
      <p:sp>
        <p:nvSpPr>
          <p:cNvPr id="30" name="Text 11"/>
          <p:cNvSpPr/>
          <p:nvPr/>
        </p:nvSpPr>
        <p:spPr>
          <a:xfrm>
            <a:off x="9315450" y="3238500"/>
            <a:ext cx="23050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Equiparar el tratamiento fiscal de las exportaciones vía plataformas virtuales con las exportaciones tradicionales</a:t>
            </a:r>
            <a:endParaRPr lang="en-US" sz="1050" dirty="0"/>
          </a:p>
        </p:txBody>
      </p:sp>
      <p:sp>
        <p:nvSpPr>
          <p:cNvPr id="31" name="Text 12"/>
          <p:cNvSpPr/>
          <p:nvPr/>
        </p:nvSpPr>
        <p:spPr>
          <a:xfrm>
            <a:off x="6629400" y="4114800"/>
            <a:ext cx="23241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Aclarar los procedimientos para la devolución del crédito fiscal del IVA a los exportadores digitales</a:t>
            </a:r>
            <a:endParaRPr lang="en-US" sz="1050" dirty="0"/>
          </a:p>
        </p:txBody>
      </p:sp>
      <p:sp>
        <p:nvSpPr>
          <p:cNvPr id="32" name="Text 13"/>
          <p:cNvSpPr/>
          <p:nvPr/>
        </p:nvSpPr>
        <p:spPr>
          <a:xfrm>
            <a:off x="9296400" y="4114800"/>
            <a:ext cx="2324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Regular la importación de bienes y servicios digitales</a:t>
            </a:r>
            <a:endParaRPr lang="en-US" sz="1050" dirty="0"/>
          </a:p>
        </p:txBody>
      </p:sp>
      <p:sp>
        <p:nvSpPr>
          <p:cNvPr id="33" name="Text 14"/>
          <p:cNvSpPr/>
          <p:nvPr/>
        </p:nvSpPr>
        <p:spPr>
          <a:xfrm>
            <a:off x="6619875" y="4838700"/>
            <a:ext cx="5000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 crucial para reducir las barreras que enfrentan emprendedores y artesanos para acceder al mercado global</a:t>
            </a:r>
            <a:endParaRPr lang="en-US" sz="1050" dirty="0"/>
          </a:p>
        </p:txBody>
      </p:sp>
      <p:sp>
        <p:nvSpPr>
          <p:cNvPr id="34" name="Text 15"/>
          <p:cNvSpPr/>
          <p:nvPr/>
        </p:nvSpPr>
        <p:spPr>
          <a:xfrm>
            <a:off x="6619875" y="5334000"/>
            <a:ext cx="213776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Fuente: Competitividad GT</a:t>
            </a:r>
            <a:endParaRPr lang="en-US" sz="1050" dirty="0"/>
          </a:p>
        </p:txBody>
      </p:sp>
      <p:sp>
        <p:nvSpPr>
          <p:cNvPr id="35" name="Text 16"/>
          <p:cNvSpPr/>
          <p:nvPr/>
        </p:nvSpPr>
        <p:spPr>
          <a:xfrm>
            <a:off x="1409700" y="6191250"/>
            <a:ext cx="47822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Ejemplo de firma electrónica en proceso de validación legal</a:t>
            </a:r>
            <a:endParaRPr lang="en-US" sz="1050" dirty="0"/>
          </a:p>
        </p:txBody>
      </p:sp>
      <p:sp>
        <p:nvSpPr>
          <p:cNvPr id="36" name="Text 17"/>
          <p:cNvSpPr/>
          <p:nvPr/>
        </p:nvSpPr>
        <p:spPr>
          <a:xfrm>
            <a:off x="11511409" y="6191250"/>
            <a:ext cx="3595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5/10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04900"/>
            <a:ext cx="3657600" cy="40386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95400"/>
            <a:ext cx="495746" cy="571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424" y="1409700"/>
            <a:ext cx="285750" cy="3429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781550"/>
            <a:ext cx="114300" cy="1524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7200" y="1104900"/>
            <a:ext cx="3657600" cy="40386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7700" y="1295400"/>
            <a:ext cx="477292" cy="5715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53396" y="1409700"/>
            <a:ext cx="285750" cy="3429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57700" y="46863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53400" y="1104900"/>
            <a:ext cx="3657600" cy="40386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43900" y="1295400"/>
            <a:ext cx="475357" cy="5715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38704" y="1409700"/>
            <a:ext cx="285750" cy="3429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43900" y="4686300"/>
            <a:ext cx="190500" cy="1524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000" y="5372100"/>
            <a:ext cx="11430000" cy="7620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3400" y="5600700"/>
            <a:ext cx="209550" cy="3048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E7D3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Internet en el Ámbito Jurídico</a:t>
            </a:r>
            <a:endParaRPr lang="en-US" sz="2700" dirty="0"/>
          </a:p>
        </p:txBody>
      </p:sp>
      <p:sp>
        <p:nvSpPr>
          <p:cNvPr id="19" name="Text 1"/>
          <p:cNvSpPr/>
          <p:nvPr/>
        </p:nvSpPr>
        <p:spPr>
          <a:xfrm>
            <a:off x="1219646" y="1314450"/>
            <a:ext cx="262845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Comunicación y Notificación</a:t>
            </a:r>
            <a:endParaRPr lang="en-US" sz="1500" dirty="0"/>
          </a:p>
        </p:txBody>
      </p:sp>
      <p:sp>
        <p:nvSpPr>
          <p:cNvPr id="20" name="Text 2"/>
          <p:cNvSpPr/>
          <p:nvPr/>
        </p:nvSpPr>
        <p:spPr>
          <a:xfrm>
            <a:off x="571500" y="2019300"/>
            <a:ext cx="3276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Correo electrónico como herramienta principal entre abogados, clientes y contrapartes</a:t>
            </a:r>
            <a:endParaRPr lang="en-US" sz="1200" dirty="0"/>
          </a:p>
        </p:txBody>
      </p:sp>
      <p:sp>
        <p:nvSpPr>
          <p:cNvPr id="21" name="Text 3"/>
          <p:cNvSpPr/>
          <p:nvPr/>
        </p:nvSpPr>
        <p:spPr>
          <a:xfrm>
            <a:off x="571500" y="2781300"/>
            <a:ext cx="3276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Sistemas implementados por el Organismo Judicial para consulta de expedientes</a:t>
            </a:r>
            <a:endParaRPr lang="en-US" sz="1200" dirty="0"/>
          </a:p>
        </p:txBody>
      </p:sp>
      <p:sp>
        <p:nvSpPr>
          <p:cNvPr id="22" name="Text 4"/>
          <p:cNvSpPr/>
          <p:nvPr/>
        </p:nvSpPr>
        <p:spPr>
          <a:xfrm>
            <a:off x="571500" y="3543300"/>
            <a:ext cx="327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Videoconferencias para audiencias aceleradas por la pandemia</a:t>
            </a:r>
            <a:endParaRPr lang="en-US" sz="1200" dirty="0"/>
          </a:p>
        </p:txBody>
      </p:sp>
      <p:sp>
        <p:nvSpPr>
          <p:cNvPr id="23" name="Text 5"/>
          <p:cNvSpPr/>
          <p:nvPr/>
        </p:nvSpPr>
        <p:spPr>
          <a:xfrm>
            <a:off x="762000" y="4762500"/>
            <a:ext cx="35861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"Justicia digital" en tiempo de crisis sanitaria</a:t>
            </a:r>
            <a:endParaRPr lang="en-US" sz="1050" dirty="0"/>
          </a:p>
        </p:txBody>
      </p:sp>
      <p:sp>
        <p:nvSpPr>
          <p:cNvPr id="24" name="Text 6"/>
          <p:cNvSpPr/>
          <p:nvPr/>
        </p:nvSpPr>
        <p:spPr>
          <a:xfrm>
            <a:off x="5087392" y="1314450"/>
            <a:ext cx="264690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Acceso a Información Jurídica</a:t>
            </a:r>
            <a:endParaRPr lang="en-US" sz="1500" dirty="0"/>
          </a:p>
        </p:txBody>
      </p:sp>
      <p:sp>
        <p:nvSpPr>
          <p:cNvPr id="25" name="Text 7"/>
          <p:cNvSpPr/>
          <p:nvPr/>
        </p:nvSpPr>
        <p:spPr>
          <a:xfrm>
            <a:off x="4457700" y="2019300"/>
            <a:ext cx="327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Bases de datos públicas y gratuitas: Congreso, Judicial, y otras entidades</a:t>
            </a:r>
            <a:endParaRPr lang="en-US" sz="1200" dirty="0"/>
          </a:p>
        </p:txBody>
      </p:sp>
      <p:sp>
        <p:nvSpPr>
          <p:cNvPr id="26" name="Text 8"/>
          <p:cNvSpPr/>
          <p:nvPr/>
        </p:nvSpPr>
        <p:spPr>
          <a:xfrm>
            <a:off x="4457700" y="2552700"/>
            <a:ext cx="327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Bases de datos comerciales: vLex y otras plataformas de suscripción</a:t>
            </a:r>
            <a:endParaRPr lang="en-US" sz="1200" dirty="0"/>
          </a:p>
        </p:txBody>
      </p:sp>
      <p:sp>
        <p:nvSpPr>
          <p:cNvPr id="27" name="Text 9"/>
          <p:cNvSpPr/>
          <p:nvPr/>
        </p:nvSpPr>
        <p:spPr>
          <a:xfrm>
            <a:off x="4457700" y="3086100"/>
            <a:ext cx="327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Portales y blogs jurídicos: despachos, académicos y noticias jurídicas</a:t>
            </a:r>
            <a:endParaRPr lang="en-US" sz="1200" dirty="0"/>
          </a:p>
        </p:txBody>
      </p:sp>
      <p:sp>
        <p:nvSpPr>
          <p:cNvPr id="28" name="Text 10"/>
          <p:cNvSpPr/>
          <p:nvPr/>
        </p:nvSpPr>
        <p:spPr>
          <a:xfrm>
            <a:off x="4686300" y="457200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Competencias nuevas: búsqueda eficiente y evaluación crítica de fuentes</a:t>
            </a:r>
            <a:endParaRPr lang="en-US" sz="1050" dirty="0"/>
          </a:p>
        </p:txBody>
      </p:sp>
      <p:sp>
        <p:nvSpPr>
          <p:cNvPr id="29" name="Text 11"/>
          <p:cNvSpPr/>
          <p:nvPr/>
        </p:nvSpPr>
        <p:spPr>
          <a:xfrm>
            <a:off x="8971657" y="1314450"/>
            <a:ext cx="264884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Comercialización de Servicios</a:t>
            </a:r>
            <a:endParaRPr lang="en-US" sz="1500" dirty="0"/>
          </a:p>
        </p:txBody>
      </p:sp>
      <p:sp>
        <p:nvSpPr>
          <p:cNvPr id="30" name="Text 12"/>
          <p:cNvSpPr/>
          <p:nvPr/>
        </p:nvSpPr>
        <p:spPr>
          <a:xfrm>
            <a:off x="8343900" y="2019300"/>
            <a:ext cx="327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Marketing digital: página web, blogs, redes sociales (LinkedIn)</a:t>
            </a:r>
            <a:endParaRPr lang="en-US" sz="1200" dirty="0"/>
          </a:p>
        </p:txBody>
      </p:sp>
      <p:sp>
        <p:nvSpPr>
          <p:cNvPr id="31" name="Text 13"/>
          <p:cNvSpPr/>
          <p:nvPr/>
        </p:nvSpPr>
        <p:spPr>
          <a:xfrm>
            <a:off x="8343900" y="25527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Publicidad en línea y PPC (Pago por clic)</a:t>
            </a:r>
            <a:endParaRPr lang="en-US" sz="1200" dirty="0"/>
          </a:p>
        </p:txBody>
      </p:sp>
      <p:sp>
        <p:nvSpPr>
          <p:cNvPr id="32" name="Text 14"/>
          <p:cNvSpPr/>
          <p:nvPr/>
        </p:nvSpPr>
        <p:spPr>
          <a:xfrm>
            <a:off x="8343900" y="2857500"/>
            <a:ext cx="327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Cumplimiento de normas éticas y legislación general sobre publicidad</a:t>
            </a:r>
            <a:endParaRPr lang="en-US" sz="1200" dirty="0"/>
          </a:p>
        </p:txBody>
      </p:sp>
      <p:sp>
        <p:nvSpPr>
          <p:cNvPr id="33" name="Text 15"/>
          <p:cNvSpPr/>
          <p:nvPr/>
        </p:nvSpPr>
        <p:spPr>
          <a:xfrm>
            <a:off x="8610600" y="4572000"/>
            <a:ext cx="3009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Publicidad veraz y sin garantías de resultados</a:t>
            </a:r>
            <a:endParaRPr lang="en-US" sz="1050" dirty="0"/>
          </a:p>
        </p:txBody>
      </p:sp>
      <p:sp>
        <p:nvSpPr>
          <p:cNvPr id="34" name="Text 16"/>
          <p:cNvSpPr/>
          <p:nvPr/>
        </p:nvSpPr>
        <p:spPr>
          <a:xfrm>
            <a:off x="857250" y="5524500"/>
            <a:ext cx="10801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 era digital ha democratizado el acceso a las fuentes del derecho, transformando la forma en que los profesionales y estudiantes de Guatemala interactúan con la información legal.</a:t>
            </a:r>
            <a:endParaRPr lang="en-US" sz="1200" dirty="0"/>
          </a:p>
        </p:txBody>
      </p:sp>
      <p:sp>
        <p:nvSpPr>
          <p:cNvPr id="35" name="Text 17"/>
          <p:cNvSpPr/>
          <p:nvPr/>
        </p:nvSpPr>
        <p:spPr>
          <a:xfrm>
            <a:off x="381000" y="6286500"/>
            <a:ext cx="25956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UNIVERSIDAD MARIANO GALVEZ</a:t>
            </a:r>
            <a:endParaRPr lang="en-US" sz="1050" dirty="0"/>
          </a:p>
        </p:txBody>
      </p:sp>
      <p:sp>
        <p:nvSpPr>
          <p:cNvPr id="36" name="Text 18"/>
          <p:cNvSpPr/>
          <p:nvPr/>
        </p:nvSpPr>
        <p:spPr>
          <a:xfrm>
            <a:off x="11511409" y="6286500"/>
            <a:ext cx="3595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6/10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686675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04900"/>
            <a:ext cx="5600700" cy="578167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33500"/>
            <a:ext cx="571500" cy="571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1447800"/>
            <a:ext cx="361950" cy="3429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847975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3457575"/>
            <a:ext cx="133350" cy="1524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4067175"/>
            <a:ext cx="114300" cy="1524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5629275"/>
            <a:ext cx="5143500" cy="10287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0300" y="1104900"/>
            <a:ext cx="5600700" cy="578167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1333500"/>
            <a:ext cx="554236" cy="5715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3143" y="1447800"/>
            <a:ext cx="285750" cy="3429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8900" y="3076575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38900" y="3914775"/>
            <a:ext cx="190500" cy="1524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4752975"/>
            <a:ext cx="133350" cy="1524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8900" y="5629275"/>
            <a:ext cx="5143500" cy="10287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E7D3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Protección de Datos y Ciberdelincuencia</a:t>
            </a:r>
            <a:endParaRPr lang="en-US" sz="2700" dirty="0"/>
          </a:p>
        </p:txBody>
      </p:sp>
      <p:sp>
        <p:nvSpPr>
          <p:cNvPr id="19" name="Text 1"/>
          <p:cNvSpPr/>
          <p:nvPr/>
        </p:nvSpPr>
        <p:spPr>
          <a:xfrm>
            <a:off x="1333500" y="1538288"/>
            <a:ext cx="490757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Protección de Datos Personales</a:t>
            </a:r>
            <a:endParaRPr lang="en-US" sz="1800" dirty="0"/>
          </a:p>
        </p:txBody>
      </p:sp>
      <p:sp>
        <p:nvSpPr>
          <p:cNvPr id="20" name="Text 2"/>
          <p:cNvSpPr/>
          <p:nvPr/>
        </p:nvSpPr>
        <p:spPr>
          <a:xfrm>
            <a:off x="609600" y="2200275"/>
            <a:ext cx="5143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diferencia de Europa con el RGPD, Guatemala no cuenta con una ley integral y específica de protección de datos personales.</a:t>
            </a:r>
            <a:endParaRPr lang="en-US" sz="1200" dirty="0"/>
          </a:p>
        </p:txBody>
      </p:sp>
      <p:sp>
        <p:nvSpPr>
          <p:cNvPr id="21" name="Text 3"/>
          <p:cNvSpPr/>
          <p:nvPr/>
        </p:nvSpPr>
        <p:spPr>
          <a:xfrm>
            <a:off x="876300" y="2809875"/>
            <a:ext cx="487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Constitución Política: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Protege el derecho a la intimidad y la privacidad.</a:t>
            </a:r>
            <a:endParaRPr lang="en-US" sz="1200" dirty="0"/>
          </a:p>
        </p:txBody>
      </p:sp>
      <p:sp>
        <p:nvSpPr>
          <p:cNvPr id="22" name="Text 4"/>
          <p:cNvSpPr/>
          <p:nvPr/>
        </p:nvSpPr>
        <p:spPr>
          <a:xfrm>
            <a:off x="857250" y="3419475"/>
            <a:ext cx="4895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Código Penal Art. 274 "E":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Sanciona la creación de registros informáticos con datos de personas sin su autorización.</a:t>
            </a:r>
            <a:endParaRPr lang="en-US" sz="1200" dirty="0"/>
          </a:p>
        </p:txBody>
      </p:sp>
      <p:sp>
        <p:nvSpPr>
          <p:cNvPr id="23" name="Text 5"/>
          <p:cNvSpPr/>
          <p:nvPr/>
        </p:nvSpPr>
        <p:spPr>
          <a:xfrm>
            <a:off x="838200" y="4029075"/>
            <a:ext cx="49149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Ley de Acceso a la Información Pública: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Clasifica como "datos personales sensibles" la información que requiere consentimiento para ser divulgada.</a:t>
            </a:r>
            <a:endParaRPr lang="en-US" sz="1200" dirty="0"/>
          </a:p>
        </p:txBody>
      </p:sp>
      <p:sp>
        <p:nvSpPr>
          <p:cNvPr id="24" name="Text 6"/>
          <p:cNvSpPr/>
          <p:nvPr/>
        </p:nvSpPr>
        <p:spPr>
          <a:xfrm>
            <a:off x="723900" y="5743575"/>
            <a:ext cx="491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Iniciativa de Ley 2025</a:t>
            </a:r>
            <a:endParaRPr lang="en-US" sz="1200" dirty="0"/>
          </a:p>
        </p:txBody>
      </p:sp>
      <p:sp>
        <p:nvSpPr>
          <p:cNvPr id="25" name="Text 7"/>
          <p:cNvSpPr/>
          <p:nvPr/>
        </p:nvSpPr>
        <p:spPr>
          <a:xfrm>
            <a:off x="723900" y="5972175"/>
            <a:ext cx="4914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Busca establecer un marco completo que regule el tratamiento de datos por parte de entidades públicas y privadas, otorgando a los ciudadanos derechos sobre su información y estableciendo estándares de seguridad.</a:t>
            </a:r>
            <a:endParaRPr lang="en-US" sz="1050" dirty="0"/>
          </a:p>
        </p:txBody>
      </p:sp>
      <p:sp>
        <p:nvSpPr>
          <p:cNvPr id="26" name="Text 8"/>
          <p:cNvSpPr/>
          <p:nvPr/>
        </p:nvSpPr>
        <p:spPr>
          <a:xfrm>
            <a:off x="7145536" y="1385888"/>
            <a:ext cx="443686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Ciberdelincuencia y Ciberseguridad</a:t>
            </a:r>
            <a:endParaRPr lang="en-US" sz="1800" dirty="0"/>
          </a:p>
        </p:txBody>
      </p:sp>
      <p:sp>
        <p:nvSpPr>
          <p:cNvPr id="27" name="Text 9"/>
          <p:cNvSpPr/>
          <p:nvPr/>
        </p:nvSpPr>
        <p:spPr>
          <a:xfrm>
            <a:off x="6438900" y="2200275"/>
            <a:ext cx="5143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 lucha contra la ciberdelincuencia es una prioridad en Guatemala, con avances significativos en la tipificación de delitos informáticos.</a:t>
            </a:r>
            <a:endParaRPr lang="en-US" sz="1200" dirty="0"/>
          </a:p>
        </p:txBody>
      </p:sp>
      <p:sp>
        <p:nvSpPr>
          <p:cNvPr id="28" name="Text 10"/>
          <p:cNvSpPr/>
          <p:nvPr/>
        </p:nvSpPr>
        <p:spPr>
          <a:xfrm>
            <a:off x="6705600" y="3038475"/>
            <a:ext cx="487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Código Penal: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Incluye figuras como la destrucción de registros informáticos (Art. 274"D") o la alteración de programas (Art. 274"F").</a:t>
            </a:r>
            <a:endParaRPr lang="en-US" sz="1200" dirty="0"/>
          </a:p>
        </p:txBody>
      </p:sp>
      <p:sp>
        <p:nvSpPr>
          <p:cNvPr id="29" name="Text 11"/>
          <p:cNvSpPr/>
          <p:nvPr/>
        </p:nvSpPr>
        <p:spPr>
          <a:xfrm>
            <a:off x="6743700" y="3876675"/>
            <a:ext cx="4838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Decreto 39-2022: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Ley de Prevención y Protección Contra la Ciberdelincuencia, que tipifica delitos modernos como acceso ilícito, fraude informático y robo de identidad.</a:t>
            </a:r>
            <a:endParaRPr lang="en-US" sz="1200" dirty="0"/>
          </a:p>
        </p:txBody>
      </p:sp>
      <p:sp>
        <p:nvSpPr>
          <p:cNvPr id="30" name="Text 12"/>
          <p:cNvSpPr/>
          <p:nvPr/>
        </p:nvSpPr>
        <p:spPr>
          <a:xfrm>
            <a:off x="6686550" y="4714875"/>
            <a:ext cx="48958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Iniciativa 6347: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Ley de Ciberseguridad, que busca fortalecer el marco legal proponiendo la creación de un centro de respuesta a incidentes informáticos (CSIRT) y un comité técnico de ciberdefensa.</a:t>
            </a:r>
            <a:endParaRPr lang="en-US" sz="1200" dirty="0"/>
          </a:p>
        </p:txBody>
      </p:sp>
      <p:sp>
        <p:nvSpPr>
          <p:cNvPr id="31" name="Text 13"/>
          <p:cNvSpPr/>
          <p:nvPr/>
        </p:nvSpPr>
        <p:spPr>
          <a:xfrm>
            <a:off x="6553200" y="5743575"/>
            <a:ext cx="491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2410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Evolución Legal</a:t>
            </a:r>
            <a:endParaRPr lang="en-US" sz="1200" dirty="0"/>
          </a:p>
        </p:txBody>
      </p:sp>
      <p:sp>
        <p:nvSpPr>
          <p:cNvPr id="32" name="Text 14"/>
          <p:cNvSpPr/>
          <p:nvPr/>
        </p:nvSpPr>
        <p:spPr>
          <a:xfrm>
            <a:off x="6553200" y="5972175"/>
            <a:ext cx="4914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Guatemala ha avanzado en la tipificación de delitos informáticos a través de reformas al Código Penal y leyes especiales, respondiendo a los desafíos de la era digital.</a:t>
            </a:r>
            <a:endParaRPr lang="en-US" sz="1050" dirty="0"/>
          </a:p>
        </p:txBody>
      </p:sp>
      <p:sp>
        <p:nvSpPr>
          <p:cNvPr id="33" name="Text 15"/>
          <p:cNvSpPr/>
          <p:nvPr/>
        </p:nvSpPr>
        <p:spPr>
          <a:xfrm>
            <a:off x="381000" y="7115175"/>
            <a:ext cx="25956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UNIVERSIDAD MARIANO GALVEZ</a:t>
            </a:r>
            <a:endParaRPr lang="en-US" sz="1050" dirty="0"/>
          </a:p>
        </p:txBody>
      </p:sp>
      <p:sp>
        <p:nvSpPr>
          <p:cNvPr id="34" name="Text 16"/>
          <p:cNvSpPr/>
          <p:nvPr/>
        </p:nvSpPr>
        <p:spPr>
          <a:xfrm>
            <a:off x="11511409" y="7115175"/>
            <a:ext cx="3595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7/10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04900"/>
            <a:ext cx="6629400" cy="4953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631" y="1905000"/>
            <a:ext cx="1095077" cy="7239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9886" y="1905000"/>
            <a:ext cx="2074515" cy="7239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9578" y="1905000"/>
            <a:ext cx="2052042" cy="7239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2933700"/>
            <a:ext cx="3009900" cy="8382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3086100"/>
            <a:ext cx="190500" cy="2667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71900" y="2933700"/>
            <a:ext cx="3009900" cy="8382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24300" y="3086100"/>
            <a:ext cx="142875" cy="2667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4000500"/>
            <a:ext cx="6172200" cy="8382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4152900"/>
            <a:ext cx="219075" cy="2667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67600" y="1104900"/>
            <a:ext cx="4343400" cy="17145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58100" y="1714500"/>
            <a:ext cx="285750" cy="3429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67600" y="3009900"/>
            <a:ext cx="4343400" cy="15621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58100" y="3600450"/>
            <a:ext cx="171450" cy="1524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696450" y="3600450"/>
            <a:ext cx="190500" cy="1524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58100" y="390525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696450" y="3905250"/>
            <a:ext cx="190500" cy="1524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658100" y="4210050"/>
            <a:ext cx="190500" cy="1524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696450" y="4210050"/>
            <a:ext cx="133350" cy="1524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E7D3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Sistema de Nombres de Dominio .gt</a:t>
            </a:r>
            <a:endParaRPr lang="en-US" sz="2700" dirty="0"/>
          </a:p>
        </p:txBody>
      </p:sp>
      <p:sp>
        <p:nvSpPr>
          <p:cNvPr id="24" name="Text 1"/>
          <p:cNvSpPr/>
          <p:nvPr/>
        </p:nvSpPr>
        <p:spPr>
          <a:xfrm>
            <a:off x="609600" y="1333500"/>
            <a:ext cx="74066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Estructura Jerárquica de un Nombre de Dominio</a:t>
            </a:r>
            <a:endParaRPr lang="en-US" sz="1500" dirty="0"/>
          </a:p>
        </p:txBody>
      </p:sp>
      <p:sp>
        <p:nvSpPr>
          <p:cNvPr id="25" name="Text 2"/>
          <p:cNvSpPr/>
          <p:nvPr/>
        </p:nvSpPr>
        <p:spPr>
          <a:xfrm>
            <a:off x="933004" y="2066925"/>
            <a:ext cx="9483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Subdominio</a:t>
            </a:r>
            <a:endParaRPr lang="en-US" sz="1050" dirty="0"/>
          </a:p>
        </p:txBody>
      </p:sp>
      <p:sp>
        <p:nvSpPr>
          <p:cNvPr id="26" name="Text 3"/>
          <p:cNvSpPr/>
          <p:nvPr/>
        </p:nvSpPr>
        <p:spPr>
          <a:xfrm>
            <a:off x="1012031" y="2247900"/>
            <a:ext cx="7902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www</a:t>
            </a:r>
            <a:endParaRPr lang="en-US" sz="1350" dirty="0"/>
          </a:p>
        </p:txBody>
      </p:sp>
      <p:sp>
        <p:nvSpPr>
          <p:cNvPr id="27" name="Text 4"/>
          <p:cNvSpPr/>
          <p:nvPr/>
        </p:nvSpPr>
        <p:spPr>
          <a:xfrm>
            <a:off x="2030909" y="2095500"/>
            <a:ext cx="8733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FF98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.</a:t>
            </a:r>
            <a:endParaRPr lang="en-US" sz="1800" dirty="0"/>
          </a:p>
        </p:txBody>
      </p:sp>
      <p:sp>
        <p:nvSpPr>
          <p:cNvPr id="28" name="Text 5"/>
          <p:cNvSpPr/>
          <p:nvPr/>
        </p:nvSpPr>
        <p:spPr>
          <a:xfrm>
            <a:off x="2155314" y="2066925"/>
            <a:ext cx="21236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Dominio de Segundo Nivel</a:t>
            </a:r>
            <a:endParaRPr lang="en-US" sz="1050" dirty="0"/>
          </a:p>
        </p:txBody>
      </p:sp>
      <p:sp>
        <p:nvSpPr>
          <p:cNvPr id="29" name="Text 6"/>
          <p:cNvSpPr/>
          <p:nvPr/>
        </p:nvSpPr>
        <p:spPr>
          <a:xfrm>
            <a:off x="2332286" y="2247900"/>
            <a:ext cx="176971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98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uvg</a:t>
            </a:r>
            <a:endParaRPr lang="en-US" sz="1350" dirty="0"/>
          </a:p>
        </p:txBody>
      </p:sp>
      <p:sp>
        <p:nvSpPr>
          <p:cNvPr id="30" name="Text 7"/>
          <p:cNvSpPr/>
          <p:nvPr/>
        </p:nvSpPr>
        <p:spPr>
          <a:xfrm>
            <a:off x="4330601" y="2095500"/>
            <a:ext cx="8733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FF98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.</a:t>
            </a:r>
            <a:endParaRPr lang="en-US" sz="1800" dirty="0"/>
          </a:p>
        </p:txBody>
      </p:sp>
      <p:sp>
        <p:nvSpPr>
          <p:cNvPr id="31" name="Text 8"/>
          <p:cNvSpPr/>
          <p:nvPr/>
        </p:nvSpPr>
        <p:spPr>
          <a:xfrm>
            <a:off x="4457254" y="2066925"/>
            <a:ext cx="20966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Dominio de Nivel Superior</a:t>
            </a:r>
            <a:endParaRPr lang="en-US" sz="1050" dirty="0"/>
          </a:p>
        </p:txBody>
      </p:sp>
      <p:sp>
        <p:nvSpPr>
          <p:cNvPr id="32" name="Text 9"/>
          <p:cNvSpPr/>
          <p:nvPr/>
        </p:nvSpPr>
        <p:spPr>
          <a:xfrm>
            <a:off x="4631978" y="2247900"/>
            <a:ext cx="17472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edu.gt</a:t>
            </a:r>
            <a:endParaRPr lang="en-US" sz="1350" dirty="0"/>
          </a:p>
        </p:txBody>
      </p:sp>
      <p:sp>
        <p:nvSpPr>
          <p:cNvPr id="33" name="Text 10"/>
          <p:cNvSpPr/>
          <p:nvPr/>
        </p:nvSpPr>
        <p:spPr>
          <a:xfrm>
            <a:off x="1066800" y="3105150"/>
            <a:ext cx="9117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.gt (TLD)</a:t>
            </a:r>
            <a:endParaRPr lang="en-US" sz="1200" dirty="0"/>
          </a:p>
        </p:txBody>
      </p:sp>
      <p:sp>
        <p:nvSpPr>
          <p:cNvPr id="34" name="Text 11"/>
          <p:cNvSpPr/>
          <p:nvPr/>
        </p:nvSpPr>
        <p:spPr>
          <a:xfrm>
            <a:off x="762000" y="3429000"/>
            <a:ext cx="32461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Código de país para Guatemala</a:t>
            </a:r>
            <a:endParaRPr lang="en-US" sz="1050" dirty="0"/>
          </a:p>
        </p:txBody>
      </p:sp>
      <p:sp>
        <p:nvSpPr>
          <p:cNvPr id="35" name="Text 12"/>
          <p:cNvSpPr/>
          <p:nvPr/>
        </p:nvSpPr>
        <p:spPr>
          <a:xfrm>
            <a:off x="4181475" y="3105150"/>
            <a:ext cx="400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SLD</a:t>
            </a:r>
            <a:endParaRPr lang="en-US" sz="1200" dirty="0"/>
          </a:p>
        </p:txBody>
      </p:sp>
      <p:sp>
        <p:nvSpPr>
          <p:cNvPr id="36" name="Text 13"/>
          <p:cNvSpPr/>
          <p:nvPr/>
        </p:nvSpPr>
        <p:spPr>
          <a:xfrm>
            <a:off x="3924300" y="3429000"/>
            <a:ext cx="32461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Identifica a la organización (ej. uvg)</a:t>
            </a:r>
            <a:endParaRPr lang="en-US" sz="1050" dirty="0"/>
          </a:p>
        </p:txBody>
      </p:sp>
      <p:sp>
        <p:nvSpPr>
          <p:cNvPr id="37" name="Text 14"/>
          <p:cNvSpPr/>
          <p:nvPr/>
        </p:nvSpPr>
        <p:spPr>
          <a:xfrm>
            <a:off x="1095375" y="4171950"/>
            <a:ext cx="1221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Subdominio</a:t>
            </a:r>
            <a:endParaRPr lang="en-US" sz="1200" dirty="0"/>
          </a:p>
        </p:txBody>
      </p:sp>
      <p:sp>
        <p:nvSpPr>
          <p:cNvPr id="38" name="Text 15"/>
          <p:cNvSpPr/>
          <p:nvPr/>
        </p:nvSpPr>
        <p:spPr>
          <a:xfrm>
            <a:off x="762000" y="4495800"/>
            <a:ext cx="70408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Parte a la izquierda del SLD (ej. www)</a:t>
            </a:r>
            <a:endParaRPr lang="en-US" sz="1050" dirty="0"/>
          </a:p>
        </p:txBody>
      </p:sp>
      <p:sp>
        <p:nvSpPr>
          <p:cNvPr id="39" name="Text 16"/>
          <p:cNvSpPr/>
          <p:nvPr/>
        </p:nvSpPr>
        <p:spPr>
          <a:xfrm>
            <a:off x="7658100" y="1295400"/>
            <a:ext cx="396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Administración</a:t>
            </a:r>
            <a:endParaRPr lang="en-US" sz="1500" dirty="0"/>
          </a:p>
        </p:txBody>
      </p:sp>
      <p:sp>
        <p:nvSpPr>
          <p:cNvPr id="40" name="Text 17"/>
          <p:cNvSpPr/>
          <p:nvPr/>
        </p:nvSpPr>
        <p:spPr>
          <a:xfrm>
            <a:off x="8096250" y="1676400"/>
            <a:ext cx="36784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Universidad del Valle de Guatemala</a:t>
            </a:r>
            <a:endParaRPr lang="en-US" sz="1200" dirty="0"/>
          </a:p>
        </p:txBody>
      </p:sp>
      <p:sp>
        <p:nvSpPr>
          <p:cNvPr id="41" name="Text 18"/>
          <p:cNvSpPr/>
          <p:nvPr/>
        </p:nvSpPr>
        <p:spPr>
          <a:xfrm>
            <a:off x="8096250" y="1905000"/>
            <a:ext cx="367849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Registro de Dominios .GT</a:t>
            </a:r>
            <a:endParaRPr lang="en-US" sz="1050" dirty="0"/>
          </a:p>
        </p:txBody>
      </p:sp>
      <p:sp>
        <p:nvSpPr>
          <p:cNvPr id="42" name="Text 19"/>
          <p:cNvSpPr/>
          <p:nvPr/>
        </p:nvSpPr>
        <p:spPr>
          <a:xfrm>
            <a:off x="7658100" y="2247900"/>
            <a:ext cx="3962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 UVG administra el ccTLD .gt desde 1992, convirtiéndose en la pionera de Internet en el país.</a:t>
            </a:r>
            <a:endParaRPr lang="en-US" sz="1050" dirty="0"/>
          </a:p>
        </p:txBody>
      </p:sp>
      <p:sp>
        <p:nvSpPr>
          <p:cNvPr id="43" name="Text 20"/>
          <p:cNvSpPr/>
          <p:nvPr/>
        </p:nvSpPr>
        <p:spPr>
          <a:xfrm>
            <a:off x="7658100" y="3200400"/>
            <a:ext cx="47548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Tipos de Dominios .gt</a:t>
            </a:r>
            <a:endParaRPr lang="en-US" sz="1500" dirty="0"/>
          </a:p>
        </p:txBody>
      </p:sp>
      <p:sp>
        <p:nvSpPr>
          <p:cNvPr id="44" name="Text 21"/>
          <p:cNvSpPr/>
          <p:nvPr/>
        </p:nvSpPr>
        <p:spPr>
          <a:xfrm>
            <a:off x="7905750" y="3581400"/>
            <a:ext cx="17180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.com.gt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Comerciales</a:t>
            </a:r>
            <a:endParaRPr lang="en-US" sz="1050" dirty="0"/>
          </a:p>
        </p:txBody>
      </p:sp>
      <p:sp>
        <p:nvSpPr>
          <p:cNvPr id="45" name="Text 22"/>
          <p:cNvSpPr/>
          <p:nvPr/>
        </p:nvSpPr>
        <p:spPr>
          <a:xfrm>
            <a:off x="9963150" y="3581400"/>
            <a:ext cx="157394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.edu.gt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Educativos</a:t>
            </a:r>
            <a:endParaRPr lang="en-US" sz="1050" dirty="0"/>
          </a:p>
        </p:txBody>
      </p:sp>
      <p:sp>
        <p:nvSpPr>
          <p:cNvPr id="46" name="Text 23"/>
          <p:cNvSpPr/>
          <p:nvPr/>
        </p:nvSpPr>
        <p:spPr>
          <a:xfrm>
            <a:off x="7886700" y="3886200"/>
            <a:ext cx="143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.gob.gt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Gobierno</a:t>
            </a:r>
            <a:endParaRPr lang="en-US" sz="1050" dirty="0"/>
          </a:p>
        </p:txBody>
      </p:sp>
      <p:sp>
        <p:nvSpPr>
          <p:cNvPr id="47" name="Text 24"/>
          <p:cNvSpPr/>
          <p:nvPr/>
        </p:nvSpPr>
        <p:spPr>
          <a:xfrm>
            <a:off x="9963150" y="3886200"/>
            <a:ext cx="11485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.net.gt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Redes</a:t>
            </a:r>
            <a:endParaRPr lang="en-US" sz="1050" dirty="0"/>
          </a:p>
        </p:txBody>
      </p:sp>
      <p:sp>
        <p:nvSpPr>
          <p:cNvPr id="48" name="Text 25"/>
          <p:cNvSpPr/>
          <p:nvPr/>
        </p:nvSpPr>
        <p:spPr>
          <a:xfrm>
            <a:off x="7924800" y="4191000"/>
            <a:ext cx="11201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.org.gt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ONGs</a:t>
            </a:r>
            <a:endParaRPr lang="en-US" sz="1050" dirty="0"/>
          </a:p>
        </p:txBody>
      </p:sp>
      <p:sp>
        <p:nvSpPr>
          <p:cNvPr id="49" name="Text 26"/>
          <p:cNvSpPr/>
          <p:nvPr/>
        </p:nvSpPr>
        <p:spPr>
          <a:xfrm>
            <a:off x="9906000" y="4191000"/>
            <a:ext cx="14650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.ind.gt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Individuos</a:t>
            </a:r>
            <a:endParaRPr lang="en-US" sz="1050" dirty="0"/>
          </a:p>
        </p:txBody>
      </p:sp>
      <p:sp>
        <p:nvSpPr>
          <p:cNvPr id="50" name="Text 27"/>
          <p:cNvSpPr/>
          <p:nvPr/>
        </p:nvSpPr>
        <p:spPr>
          <a:xfrm>
            <a:off x="381000" y="6286500"/>
            <a:ext cx="25956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UNIVERSIDAD MARIANO GALVEZ</a:t>
            </a:r>
            <a:endParaRPr lang="en-US" sz="1050" dirty="0"/>
          </a:p>
        </p:txBody>
      </p:sp>
      <p:sp>
        <p:nvSpPr>
          <p:cNvPr id="51" name="Text 28"/>
          <p:cNvSpPr/>
          <p:nvPr/>
        </p:nvSpPr>
        <p:spPr>
          <a:xfrm>
            <a:off x="11511409" y="6286500"/>
            <a:ext cx="3595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8/10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0104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04900"/>
            <a:ext cx="5600700" cy="3848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95400"/>
            <a:ext cx="285750" cy="3429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400300"/>
            <a:ext cx="228600" cy="2286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933700"/>
            <a:ext cx="228600" cy="2286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238500"/>
            <a:ext cx="228600" cy="2286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848100"/>
            <a:ext cx="5219700" cy="9144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0300" y="1104900"/>
            <a:ext cx="5600700" cy="38481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1295400"/>
            <a:ext cx="361950" cy="3429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2400300"/>
            <a:ext cx="228600" cy="2286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2933700"/>
            <a:ext cx="228600" cy="2286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3238500"/>
            <a:ext cx="228600" cy="2286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3619500"/>
            <a:ext cx="5219700" cy="9144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000" y="5143500"/>
            <a:ext cx="11430000" cy="11430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" y="5753100"/>
            <a:ext cx="285750" cy="3048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356050" y="5753100"/>
            <a:ext cx="285750" cy="3048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64401" y="5753100"/>
            <a:ext cx="228600" cy="3048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E7D3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Resolución de Disputas de Dominios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971550" y="1314450"/>
            <a:ext cx="358634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Vía Extrajudicial: UDRP</a:t>
            </a:r>
            <a:endParaRPr lang="en-US" sz="1800" dirty="0"/>
          </a:p>
        </p:txBody>
      </p:sp>
      <p:sp>
        <p:nvSpPr>
          <p:cNvPr id="22" name="Text 2"/>
          <p:cNvSpPr/>
          <p:nvPr/>
        </p:nvSpPr>
        <p:spPr>
          <a:xfrm>
            <a:off x="571500" y="1790700"/>
            <a:ext cx="5219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Política Uniforme de Resolución de Disputas por Nombres de Dominio, adoptada por Guatemala en 2000.</a:t>
            </a:r>
            <a:endParaRPr lang="en-US" sz="1200" dirty="0"/>
          </a:p>
        </p:txBody>
      </p:sp>
      <p:sp>
        <p:nvSpPr>
          <p:cNvPr id="23" name="Text 3"/>
          <p:cNvSpPr/>
          <p:nvPr/>
        </p:nvSpPr>
        <p:spPr>
          <a:xfrm>
            <a:off x="637282" y="24003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4"/>
          <p:cNvSpPr/>
          <p:nvPr/>
        </p:nvSpPr>
        <p:spPr>
          <a:xfrm>
            <a:off x="876300" y="2400300"/>
            <a:ext cx="4914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Presentación: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Titular de marca presenta demanda ante centro de arbitraje acreditado.</a:t>
            </a:r>
            <a:endParaRPr lang="en-US" sz="1200" dirty="0"/>
          </a:p>
        </p:txBody>
      </p:sp>
      <p:sp>
        <p:nvSpPr>
          <p:cNvPr id="25" name="Text 5"/>
          <p:cNvSpPr/>
          <p:nvPr/>
        </p:nvSpPr>
        <p:spPr>
          <a:xfrm>
            <a:off x="637282" y="29337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6"/>
          <p:cNvSpPr/>
          <p:nvPr/>
        </p:nvSpPr>
        <p:spPr>
          <a:xfrm>
            <a:off x="876300" y="2933700"/>
            <a:ext cx="52990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Pruebas: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Debe demostrar los tres elementos requeridos.</a:t>
            </a:r>
            <a:endParaRPr lang="en-US" sz="1200" dirty="0"/>
          </a:p>
        </p:txBody>
      </p:sp>
      <p:sp>
        <p:nvSpPr>
          <p:cNvPr id="27" name="Text 7"/>
          <p:cNvSpPr/>
          <p:nvPr/>
        </p:nvSpPr>
        <p:spPr>
          <a:xfrm>
            <a:off x="637282" y="32385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8"/>
          <p:cNvSpPr/>
          <p:nvPr/>
        </p:nvSpPr>
        <p:spPr>
          <a:xfrm>
            <a:off x="876300" y="3238500"/>
            <a:ext cx="4914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Resolución: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Arbitraje vinculante para transferencia de dominio.</a:t>
            </a:r>
            <a:endParaRPr lang="en-US" sz="1200" dirty="0"/>
          </a:p>
        </p:txBody>
      </p:sp>
      <p:sp>
        <p:nvSpPr>
          <p:cNvPr id="29" name="Text 9"/>
          <p:cNvSpPr/>
          <p:nvPr/>
        </p:nvSpPr>
        <p:spPr>
          <a:xfrm>
            <a:off x="685800" y="3962400"/>
            <a:ext cx="4991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Ejemplo UDRP</a:t>
            </a:r>
            <a:endParaRPr lang="en-US" sz="1200" dirty="0"/>
          </a:p>
        </p:txBody>
      </p:sp>
      <p:sp>
        <p:nvSpPr>
          <p:cNvPr id="30" name="Text 10"/>
          <p:cNvSpPr/>
          <p:nvPr/>
        </p:nvSpPr>
        <p:spPr>
          <a:xfrm>
            <a:off x="685800" y="4267200"/>
            <a:ext cx="4991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 UVG, como administradora del .gt, aplicó UDRP para resolver conflictos entre usuarios y marcas comerciales.</a:t>
            </a:r>
            <a:endParaRPr lang="en-US" sz="1050" dirty="0"/>
          </a:p>
        </p:txBody>
      </p:sp>
      <p:sp>
        <p:nvSpPr>
          <p:cNvPr id="31" name="Text 11"/>
          <p:cNvSpPr/>
          <p:nvPr/>
        </p:nvSpPr>
        <p:spPr>
          <a:xfrm>
            <a:off x="6877050" y="1314450"/>
            <a:ext cx="171057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Vía Judicial</a:t>
            </a:r>
            <a:endParaRPr lang="en-US" sz="1800" dirty="0"/>
          </a:p>
        </p:txBody>
      </p:sp>
      <p:sp>
        <p:nvSpPr>
          <p:cNvPr id="32" name="Text 12"/>
          <p:cNvSpPr/>
          <p:nvPr/>
        </p:nvSpPr>
        <p:spPr>
          <a:xfrm>
            <a:off x="6400800" y="1790700"/>
            <a:ext cx="5219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Los conflictos pueden resolverse ante tribunales ordinarios de Guatemala.</a:t>
            </a:r>
            <a:endParaRPr lang="en-US" sz="1200" dirty="0"/>
          </a:p>
        </p:txBody>
      </p:sp>
      <p:sp>
        <p:nvSpPr>
          <p:cNvPr id="33" name="Text 13"/>
          <p:cNvSpPr/>
          <p:nvPr/>
        </p:nvSpPr>
        <p:spPr>
          <a:xfrm>
            <a:off x="6466582" y="24003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Text 14"/>
          <p:cNvSpPr/>
          <p:nvPr/>
        </p:nvSpPr>
        <p:spPr>
          <a:xfrm>
            <a:off x="6705600" y="2400300"/>
            <a:ext cx="4914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Fundamento: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Ley de Propiedad Industrial o Ley de Competencia Desleal.</a:t>
            </a:r>
            <a:endParaRPr lang="en-US" sz="1200" dirty="0"/>
          </a:p>
        </p:txBody>
      </p:sp>
      <p:sp>
        <p:nvSpPr>
          <p:cNvPr id="35" name="Text 15"/>
          <p:cNvSpPr/>
          <p:nvPr/>
        </p:nvSpPr>
        <p:spPr>
          <a:xfrm>
            <a:off x="6466582" y="29337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16"/>
          <p:cNvSpPr/>
          <p:nvPr/>
        </p:nvSpPr>
        <p:spPr>
          <a:xfrm>
            <a:off x="6705600" y="2933700"/>
            <a:ext cx="56737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Procedimiento: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Demanda judicial con pruebas y audiencias.</a:t>
            </a:r>
            <a:endParaRPr lang="en-US" sz="1200" dirty="0"/>
          </a:p>
        </p:txBody>
      </p:sp>
      <p:sp>
        <p:nvSpPr>
          <p:cNvPr id="37" name="Text 17"/>
          <p:cNvSpPr/>
          <p:nvPr/>
        </p:nvSpPr>
        <p:spPr>
          <a:xfrm>
            <a:off x="6466582" y="32385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1200" dirty="0"/>
          </a:p>
        </p:txBody>
      </p:sp>
      <p:sp>
        <p:nvSpPr>
          <p:cNvPr id="38" name="Text 18"/>
          <p:cNvSpPr/>
          <p:nvPr/>
        </p:nvSpPr>
        <p:spPr>
          <a:xfrm>
            <a:off x="6705600" y="3238500"/>
            <a:ext cx="5361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Resultados: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Transferencia de dominio y/o indemnización.</a:t>
            </a:r>
            <a:endParaRPr lang="en-US" sz="1200" dirty="0"/>
          </a:p>
        </p:txBody>
      </p:sp>
      <p:sp>
        <p:nvSpPr>
          <p:cNvPr id="39" name="Text 19"/>
          <p:cNvSpPr/>
          <p:nvPr/>
        </p:nvSpPr>
        <p:spPr>
          <a:xfrm>
            <a:off x="6515100" y="3733800"/>
            <a:ext cx="5989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Ventajas del Proceso Judicial</a:t>
            </a:r>
            <a:endParaRPr lang="en-US" sz="1200" dirty="0"/>
          </a:p>
        </p:txBody>
      </p:sp>
      <p:sp>
        <p:nvSpPr>
          <p:cNvPr id="40" name="Text 20"/>
          <p:cNvSpPr/>
          <p:nvPr/>
        </p:nvSpPr>
        <p:spPr>
          <a:xfrm>
            <a:off x="6515100" y="4038600"/>
            <a:ext cx="4991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Permite solicitar no solo la transferencia del dominio, sino también una indemnización por daños y perjuicios.</a:t>
            </a:r>
            <a:endParaRPr lang="en-US" sz="1050" dirty="0"/>
          </a:p>
        </p:txBody>
      </p:sp>
      <p:sp>
        <p:nvSpPr>
          <p:cNvPr id="41" name="Text 21"/>
          <p:cNvSpPr/>
          <p:nvPr/>
        </p:nvSpPr>
        <p:spPr>
          <a:xfrm>
            <a:off x="-579120" y="5295900"/>
            <a:ext cx="133502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Elementos Requeridos para Transferencia de Dominio</a:t>
            </a:r>
            <a:endParaRPr lang="en-US" sz="1500" dirty="0"/>
          </a:p>
        </p:txBody>
      </p:sp>
      <p:sp>
        <p:nvSpPr>
          <p:cNvPr id="42" name="Text 22"/>
          <p:cNvSpPr/>
          <p:nvPr/>
        </p:nvSpPr>
        <p:spPr>
          <a:xfrm>
            <a:off x="1047750" y="5676900"/>
            <a:ext cx="3079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Identidad: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Dominio idéntico o similar a marca.</a:t>
            </a:r>
            <a:endParaRPr lang="en-US" sz="1200" dirty="0"/>
          </a:p>
        </p:txBody>
      </p:sp>
      <p:sp>
        <p:nvSpPr>
          <p:cNvPr id="43" name="Text 23"/>
          <p:cNvSpPr/>
          <p:nvPr/>
        </p:nvSpPr>
        <p:spPr>
          <a:xfrm>
            <a:off x="4756100" y="5676900"/>
            <a:ext cx="3079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Intereses: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Registrante sin derechos legítimos.</a:t>
            </a:r>
            <a:endParaRPr lang="en-US" sz="1200" dirty="0"/>
          </a:p>
        </p:txBody>
      </p:sp>
      <p:sp>
        <p:nvSpPr>
          <p:cNvPr id="44" name="Text 24"/>
          <p:cNvSpPr/>
          <p:nvPr/>
        </p:nvSpPr>
        <p:spPr>
          <a:xfrm>
            <a:off x="8407301" y="5676900"/>
            <a:ext cx="3136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Mala fe: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Registro con intención de lucro.</a:t>
            </a:r>
            <a:endParaRPr lang="en-US" sz="1200" dirty="0"/>
          </a:p>
        </p:txBody>
      </p:sp>
      <p:sp>
        <p:nvSpPr>
          <p:cNvPr id="45" name="Text 25"/>
          <p:cNvSpPr/>
          <p:nvPr/>
        </p:nvSpPr>
        <p:spPr>
          <a:xfrm>
            <a:off x="381000" y="6438900"/>
            <a:ext cx="25956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UNIVERSIDAD MARIANO GALVEZ</a:t>
            </a:r>
            <a:endParaRPr lang="en-US" sz="1050" dirty="0"/>
          </a:p>
        </p:txBody>
      </p:sp>
      <p:sp>
        <p:nvSpPr>
          <p:cNvPr id="46" name="Text 26"/>
          <p:cNvSpPr/>
          <p:nvPr/>
        </p:nvSpPr>
        <p:spPr>
          <a:xfrm>
            <a:off x="11511409" y="6438900"/>
            <a:ext cx="3595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9/10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04900"/>
            <a:ext cx="5600700" cy="20193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95400"/>
            <a:ext cx="571500" cy="571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75" y="1409700"/>
            <a:ext cx="361950" cy="3429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1104900"/>
            <a:ext cx="5600700" cy="20193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1295400"/>
            <a:ext cx="571500" cy="5715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5575" y="1409700"/>
            <a:ext cx="361950" cy="3429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3352800"/>
            <a:ext cx="5600700" cy="20193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3543300"/>
            <a:ext cx="571500" cy="5715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6275" y="3657600"/>
            <a:ext cx="361950" cy="3429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0300" y="3352800"/>
            <a:ext cx="5600700" cy="20193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3543300"/>
            <a:ext cx="571500" cy="5715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05575" y="3657600"/>
            <a:ext cx="361950" cy="3429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000" y="5600700"/>
            <a:ext cx="11430000" cy="5334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E7D3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Desafíos del Derecho Digital Guatemalteco</a:t>
            </a:r>
            <a:endParaRPr lang="en-US" sz="2700" dirty="0"/>
          </a:p>
        </p:txBody>
      </p:sp>
      <p:sp>
        <p:nvSpPr>
          <p:cNvPr id="18" name="Text 1"/>
          <p:cNvSpPr/>
          <p:nvPr/>
        </p:nvSpPr>
        <p:spPr>
          <a:xfrm>
            <a:off x="1295400" y="1295400"/>
            <a:ext cx="53949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Marco Regulatorio Integral</a:t>
            </a:r>
            <a:endParaRPr lang="en-US" sz="1500" dirty="0"/>
          </a:p>
        </p:txBody>
      </p:sp>
      <p:sp>
        <p:nvSpPr>
          <p:cNvPr id="19" name="Text 2"/>
          <p:cNvSpPr/>
          <p:nvPr/>
        </p:nvSpPr>
        <p:spPr>
          <a:xfrm>
            <a:off x="1295400" y="1638300"/>
            <a:ext cx="449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Aprobar ley específica de protección de datos personales</a:t>
            </a:r>
            <a:endParaRPr lang="en-US" sz="1200" dirty="0"/>
          </a:p>
        </p:txBody>
      </p:sp>
      <p:sp>
        <p:nvSpPr>
          <p:cNvPr id="20" name="Text 3"/>
          <p:cNvSpPr/>
          <p:nvPr/>
        </p:nvSpPr>
        <p:spPr>
          <a:xfrm>
            <a:off x="1295400" y="213360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Actualizar legislación penal y de ciberseguridad</a:t>
            </a:r>
            <a:endParaRPr lang="en-US" sz="1200" dirty="0"/>
          </a:p>
        </p:txBody>
      </p:sp>
      <p:sp>
        <p:nvSpPr>
          <p:cNvPr id="21" name="Text 4"/>
          <p:cNvSpPr/>
          <p:nvPr/>
        </p:nvSpPr>
        <p:spPr>
          <a:xfrm>
            <a:off x="1295400" y="240030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Brindar certeza jurídica a ciudadanos y empresas</a:t>
            </a:r>
            <a:endParaRPr lang="en-US" sz="1200" dirty="0"/>
          </a:p>
        </p:txBody>
      </p:sp>
      <p:sp>
        <p:nvSpPr>
          <p:cNvPr id="22" name="Text 5"/>
          <p:cNvSpPr/>
          <p:nvPr/>
        </p:nvSpPr>
        <p:spPr>
          <a:xfrm>
            <a:off x="7124700" y="1295400"/>
            <a:ext cx="53949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Cierre de la Brecha Digital</a:t>
            </a:r>
            <a:endParaRPr lang="en-US" sz="1500" dirty="0"/>
          </a:p>
        </p:txBody>
      </p:sp>
      <p:sp>
        <p:nvSpPr>
          <p:cNvPr id="23" name="Text 6"/>
          <p:cNvSpPr/>
          <p:nvPr/>
        </p:nvSpPr>
        <p:spPr>
          <a:xfrm>
            <a:off x="7124700" y="1638300"/>
            <a:ext cx="449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Traducir el derecho a Internet en políticas públicas efectivas</a:t>
            </a:r>
            <a:endParaRPr lang="en-US" sz="1200" dirty="0"/>
          </a:p>
        </p:txBody>
      </p:sp>
      <p:sp>
        <p:nvSpPr>
          <p:cNvPr id="24" name="Text 7"/>
          <p:cNvSpPr/>
          <p:nvPr/>
        </p:nvSpPr>
        <p:spPr>
          <a:xfrm>
            <a:off x="7124700" y="213360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Garantizar conectividad asequible y de calidad</a:t>
            </a:r>
            <a:endParaRPr lang="en-US" sz="1200" dirty="0"/>
          </a:p>
        </p:txBody>
      </p:sp>
      <p:sp>
        <p:nvSpPr>
          <p:cNvPr id="25" name="Text 8"/>
          <p:cNvSpPr/>
          <p:nvPr/>
        </p:nvSpPr>
        <p:spPr>
          <a:xfrm>
            <a:off x="7124700" y="240030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Enfoque especial en áreas rurales</a:t>
            </a:r>
            <a:endParaRPr lang="en-US" sz="1200" dirty="0"/>
          </a:p>
        </p:txBody>
      </p:sp>
      <p:sp>
        <p:nvSpPr>
          <p:cNvPr id="26" name="Text 9"/>
          <p:cNvSpPr/>
          <p:nvPr/>
        </p:nvSpPr>
        <p:spPr>
          <a:xfrm>
            <a:off x="1295400" y="3543300"/>
            <a:ext cx="53949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Educación y Capacitación</a:t>
            </a:r>
            <a:endParaRPr lang="en-US" sz="1500" dirty="0"/>
          </a:p>
        </p:txBody>
      </p:sp>
      <p:sp>
        <p:nvSpPr>
          <p:cNvPr id="27" name="Text 10"/>
          <p:cNvSpPr/>
          <p:nvPr/>
        </p:nvSpPr>
        <p:spPr>
          <a:xfrm>
            <a:off x="1295400" y="3886200"/>
            <a:ext cx="449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Formar nueva generación de juristas con competencias digitales</a:t>
            </a:r>
            <a:endParaRPr lang="en-US" sz="1200" dirty="0"/>
          </a:p>
        </p:txBody>
      </p:sp>
      <p:sp>
        <p:nvSpPr>
          <p:cNvPr id="28" name="Text 11"/>
          <p:cNvSpPr/>
          <p:nvPr/>
        </p:nvSpPr>
        <p:spPr>
          <a:xfrm>
            <a:off x="1295400" y="438150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Capacitación de jueces y funcionarios públicos</a:t>
            </a:r>
            <a:endParaRPr lang="en-US" sz="1200" dirty="0"/>
          </a:p>
        </p:txBody>
      </p:sp>
      <p:sp>
        <p:nvSpPr>
          <p:cNvPr id="29" name="Text 12"/>
          <p:cNvSpPr/>
          <p:nvPr/>
        </p:nvSpPr>
        <p:spPr>
          <a:xfrm>
            <a:off x="1295400" y="464820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Postgrados en Derecho Digital como paso inicial</a:t>
            </a:r>
            <a:endParaRPr lang="en-US" sz="1200" dirty="0"/>
          </a:p>
        </p:txBody>
      </p:sp>
      <p:sp>
        <p:nvSpPr>
          <p:cNvPr id="30" name="Text 13"/>
          <p:cNvSpPr/>
          <p:nvPr/>
        </p:nvSpPr>
        <p:spPr>
          <a:xfrm>
            <a:off x="7124700" y="3543300"/>
            <a:ext cx="49916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Cooperación Público-Privada</a:t>
            </a:r>
            <a:endParaRPr lang="en-US" sz="1500" dirty="0"/>
          </a:p>
        </p:txBody>
      </p:sp>
      <p:sp>
        <p:nvSpPr>
          <p:cNvPr id="31" name="Text 14"/>
          <p:cNvSpPr/>
          <p:nvPr/>
        </p:nvSpPr>
        <p:spPr>
          <a:xfrm>
            <a:off x="7124700" y="3886200"/>
            <a:ext cx="49916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Modelos de gobernanza efectiva (ej. dominio .gt)</a:t>
            </a:r>
            <a:endParaRPr lang="en-US" sz="1200" dirty="0"/>
          </a:p>
        </p:txBody>
      </p:sp>
      <p:sp>
        <p:nvSpPr>
          <p:cNvPr id="32" name="Text 15"/>
          <p:cNvSpPr/>
          <p:nvPr/>
        </p:nvSpPr>
        <p:spPr>
          <a:xfrm>
            <a:off x="7124700" y="4152900"/>
            <a:ext cx="49916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Involucrar academia, sector privado y sociedad civil</a:t>
            </a:r>
            <a:endParaRPr lang="en-US" sz="1200" dirty="0"/>
          </a:p>
        </p:txBody>
      </p:sp>
      <p:sp>
        <p:nvSpPr>
          <p:cNvPr id="33" name="Text 16"/>
          <p:cNvSpPr/>
          <p:nvPr/>
        </p:nvSpPr>
        <p:spPr>
          <a:xfrm>
            <a:off x="7124700" y="4419600"/>
            <a:ext cx="49916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Desarrollar regulaciones equilibradas</a:t>
            </a:r>
            <a:endParaRPr lang="en-US" sz="1200" dirty="0"/>
          </a:p>
        </p:txBody>
      </p:sp>
      <p:sp>
        <p:nvSpPr>
          <p:cNvPr id="34" name="Text 17"/>
          <p:cNvSpPr/>
          <p:nvPr/>
        </p:nvSpPr>
        <p:spPr>
          <a:xfrm>
            <a:off x="-579120" y="5753100"/>
            <a:ext cx="1335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¡La hora es ahora!</a:t>
            </a:r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Las decisiones legislativas y judiciales definirán el carácter de la sociedad digital guatemalteca.</a:t>
            </a:r>
            <a:endParaRPr lang="en-US" sz="1200" dirty="0"/>
          </a:p>
        </p:txBody>
      </p:sp>
      <p:sp>
        <p:nvSpPr>
          <p:cNvPr id="35" name="Text 18"/>
          <p:cNvSpPr/>
          <p:nvPr/>
        </p:nvSpPr>
        <p:spPr>
          <a:xfrm>
            <a:off x="381000" y="6286500"/>
            <a:ext cx="25956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UNIVERSIDAD MARIANO GALVEZ</a:t>
            </a:r>
            <a:endParaRPr lang="en-US" sz="1050" dirty="0"/>
          </a:p>
        </p:txBody>
      </p:sp>
      <p:sp>
        <p:nvSpPr>
          <p:cNvPr id="36" name="Text 19"/>
          <p:cNvSpPr/>
          <p:nvPr/>
        </p:nvSpPr>
        <p:spPr>
          <a:xfrm>
            <a:off x="11426577" y="6286500"/>
            <a:ext cx="4613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10/10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2026-01-10T22:58:11Z</dcterms:created>
  <dcterms:modified xsi:type="dcterms:W3CDTF">2026-01-10T22:58:11Z</dcterms:modified>
</cp:coreProperties>
</file>